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8"/>
  </p:notesMasterIdLst>
  <p:sldIdLst>
    <p:sldId id="256" r:id="rId2"/>
    <p:sldId id="257" r:id="rId3"/>
    <p:sldId id="294" r:id="rId4"/>
    <p:sldId id="307" r:id="rId5"/>
    <p:sldId id="297" r:id="rId6"/>
    <p:sldId id="258" r:id="rId7"/>
    <p:sldId id="296" r:id="rId8"/>
    <p:sldId id="293" r:id="rId9"/>
    <p:sldId id="298" r:id="rId10"/>
    <p:sldId id="299" r:id="rId11"/>
    <p:sldId id="300" r:id="rId12"/>
    <p:sldId id="303" r:id="rId13"/>
    <p:sldId id="301" r:id="rId14"/>
    <p:sldId id="259" r:id="rId15"/>
    <p:sldId id="304" r:id="rId16"/>
    <p:sldId id="306" r:id="rId17"/>
    <p:sldId id="312" r:id="rId18"/>
    <p:sldId id="260" r:id="rId19"/>
    <p:sldId id="313" r:id="rId20"/>
    <p:sldId id="314" r:id="rId21"/>
    <p:sldId id="305" r:id="rId22"/>
    <p:sldId id="302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308" r:id="rId40"/>
    <p:sldId id="278" r:id="rId41"/>
    <p:sldId id="279" r:id="rId42"/>
    <p:sldId id="315" r:id="rId43"/>
    <p:sldId id="280" r:id="rId44"/>
    <p:sldId id="281" r:id="rId45"/>
    <p:sldId id="282" r:id="rId46"/>
    <p:sldId id="283" r:id="rId47"/>
    <p:sldId id="284" r:id="rId48"/>
    <p:sldId id="285" r:id="rId49"/>
    <p:sldId id="286" r:id="rId50"/>
    <p:sldId id="287" r:id="rId51"/>
    <p:sldId id="316" r:id="rId52"/>
    <p:sldId id="290" r:id="rId53"/>
    <p:sldId id="311" r:id="rId54"/>
    <p:sldId id="309" r:id="rId55"/>
    <p:sldId id="310" r:id="rId56"/>
    <p:sldId id="289" r:id="rId5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83"/>
    <p:restoredTop sz="92691"/>
  </p:normalViewPr>
  <p:slideViewPr>
    <p:cSldViewPr snapToGrid="0">
      <p:cViewPr>
        <p:scale>
          <a:sx n="143" d="100"/>
          <a:sy n="143" d="100"/>
        </p:scale>
        <p:origin x="1192" y="4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5BC6068-CA08-12B0-1119-55A65069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33ADCE6D-D137-DEAC-FC0A-CE922D642F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D1369D3C-0BA6-D06E-416F-FCC1493F9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 mesh consists of:</a:t>
            </a:r>
            <a:r>
              <a:rPr lang="zh-TW" altLang="en-US" dirty="0"/>
              <a:t> </a:t>
            </a:r>
            <a:r>
              <a:rPr lang="en-US" b="1" dirty="0"/>
              <a:t>Vertices</a:t>
            </a:r>
            <a:r>
              <a:rPr lang="en-US" b="0" dirty="0"/>
              <a:t>, </a:t>
            </a:r>
            <a:r>
              <a:rPr lang="en-US" b="1" dirty="0"/>
              <a:t>Edges</a:t>
            </a:r>
            <a:r>
              <a:rPr lang="en-US" b="0" dirty="0"/>
              <a:t>, </a:t>
            </a:r>
            <a:r>
              <a:rPr lang="en-US" b="1" dirty="0"/>
              <a:t>Faces</a:t>
            </a:r>
            <a:r>
              <a:rPr lang="en-US" dirty="0"/>
              <a:t> (usually triangles)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142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DE5BFF62-B89F-3AA2-5E2E-7202CD3E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A5617EFD-73EA-5779-DFAF-4884AE8F7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939D5D70-35CD-9F46-79E4-95B17EDC8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 mesh consists of:</a:t>
            </a:r>
            <a:r>
              <a:rPr lang="zh-TW" altLang="en-US" dirty="0"/>
              <a:t> </a:t>
            </a:r>
            <a:r>
              <a:rPr lang="en-US" b="1" dirty="0"/>
              <a:t>Vertices</a:t>
            </a:r>
            <a:r>
              <a:rPr lang="en-US" b="0" dirty="0"/>
              <a:t>, </a:t>
            </a:r>
            <a:r>
              <a:rPr lang="en-US" b="1" dirty="0"/>
              <a:t>Edges</a:t>
            </a:r>
            <a:r>
              <a:rPr lang="en-US" b="0" dirty="0"/>
              <a:t>, </a:t>
            </a:r>
            <a:r>
              <a:rPr lang="en-US" b="1" dirty="0"/>
              <a:t>Faces</a:t>
            </a:r>
            <a:r>
              <a:rPr lang="en-US" dirty="0"/>
              <a:t> (usually triangles)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65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B44434E-5C04-C3BF-868B-316AC5DC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5A74ED8E-3855-0B4D-171D-9478519C6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E3326A2C-9402-45EE-0EAF-BE5CE27D9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 mesh consists of:</a:t>
            </a:r>
            <a:r>
              <a:rPr lang="zh-TW" altLang="en-US" dirty="0"/>
              <a:t> </a:t>
            </a:r>
            <a:r>
              <a:rPr lang="en-US" b="1" dirty="0"/>
              <a:t>Vertices</a:t>
            </a:r>
            <a:r>
              <a:rPr lang="en-US" b="0" dirty="0"/>
              <a:t>, </a:t>
            </a:r>
            <a:r>
              <a:rPr lang="en-US" b="1" dirty="0"/>
              <a:t>Edges</a:t>
            </a:r>
            <a:r>
              <a:rPr lang="en-US" b="0" dirty="0"/>
              <a:t>, </a:t>
            </a:r>
            <a:r>
              <a:rPr lang="en-US" b="1" dirty="0"/>
              <a:t>Faces</a:t>
            </a:r>
            <a:r>
              <a:rPr lang="en-US" dirty="0"/>
              <a:t> (usually triangles)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9798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88C6FAAE-C9D3-4F65-1678-4B5B18A0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2B554990-23F9-CFF4-3DC6-C60C13F26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FC2B9916-4CFA-4F2F-6610-B2F9F3352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055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3C196AD-1D9D-4F72-7291-41421566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C2B6A1FA-94B6-1407-35D1-1FC88DBBE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E0D2DCB8-F3C3-12F9-6F0E-D5DCDBA89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World to camera transformation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314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B5A22AC5-16C2-0140-79A2-3DED0E50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782AFC34-EBF9-A222-011C-DC8431DE6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95FA57CD-D001-6191-15B4-A39CB611E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Rotation invariant, translation invariant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7387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92D6E6E-DF25-52A6-5FC9-E81B59FE8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A3BDFED1-6675-727A-1BAB-7DA426F3D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3E8B5FA0-C273-4AB6-FEF6-AC3E4879C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Rotation invariant, translation invariant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9010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78CF3298-6096-C3A7-B68A-50EB34BF8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9E50D19A-E22E-8E27-730C-F4AE50A51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4C77D883-A3F1-7649-0BAD-57F12830E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Rotation invariant, translation invariant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8780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CB731F64-89CD-FBC5-5311-F9F5458E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83079A9F-15AC-D127-A655-FFB79212D5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9331BE46-FF04-7006-EA08-A5BFB3FD0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Rotation invariant, translation invariant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190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0E081F28-3D54-49E4-7979-9EE109B4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F3D29A92-291E-0E19-7C83-A80EDC4DE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D54DAEAF-4C74-5EBC-3A59-4E0806F56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362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Rigid Transformation, scaling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47C26D12-2E52-FA39-87AD-F565002EA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605F3CD3-34D2-92AB-0D2A-000F7099F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B99905E2-82F7-323A-FC20-EC459EFDA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Rigid Transformation, scaling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943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A498978A-52CB-4039-436A-E9CF454C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fc5f2b78f_0_51:notes">
            <a:extLst>
              <a:ext uri="{FF2B5EF4-FFF2-40B4-BE49-F238E27FC236}">
                <a16:creationId xmlns:a16="http://schemas.microsoft.com/office/drawing/2014/main" id="{17A6D9F9-1F00-20F4-B6DB-B30760C10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fc5f2b78f_0_51:notes">
            <a:extLst>
              <a:ext uri="{FF2B5EF4-FFF2-40B4-BE49-F238E27FC236}">
                <a16:creationId xmlns:a16="http://schemas.microsoft.com/office/drawing/2014/main" id="{F8877B5F-12C6-0967-2AB9-05101B74D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Rigid Transformation, scaling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6381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23393A9D-69A1-F029-3DB7-1A72F5C0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7C42E402-A5B9-BD34-E310-2E4581661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F1C17FA7-6AA9-5D0A-F30D-29B254C8D3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755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e1396a1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e1396a1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3F6C33B-4263-635D-EE27-B59E8276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e1396a10_0_10:notes">
            <a:extLst>
              <a:ext uri="{FF2B5EF4-FFF2-40B4-BE49-F238E27FC236}">
                <a16:creationId xmlns:a16="http://schemas.microsoft.com/office/drawing/2014/main" id="{490C7BDC-5886-EA76-750E-1CD4181D70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e1396a10_0_10:notes">
            <a:extLst>
              <a:ext uri="{FF2B5EF4-FFF2-40B4-BE49-F238E27FC236}">
                <a16:creationId xmlns:a16="http://schemas.microsoft.com/office/drawing/2014/main" id="{C68031B8-AA4A-07F9-9AF4-6C64340F4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5445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E0B1D3BC-CABC-9D9B-97C7-88C775F1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e1396a10_0_10:notes">
            <a:extLst>
              <a:ext uri="{FF2B5EF4-FFF2-40B4-BE49-F238E27FC236}">
                <a16:creationId xmlns:a16="http://schemas.microsoft.com/office/drawing/2014/main" id="{DD8FE9C1-93B9-7DCB-8EE5-7EA682EE7E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e1396a10_0_10:notes">
            <a:extLst>
              <a:ext uri="{FF2B5EF4-FFF2-40B4-BE49-F238E27FC236}">
                <a16:creationId xmlns:a16="http://schemas.microsoft.com/office/drawing/2014/main" id="{5E844690-81F3-F275-7B00-BF5270A01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037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DCB8709-3EE2-3761-2EDC-36A020EE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e1396a10_0_10:notes">
            <a:extLst>
              <a:ext uri="{FF2B5EF4-FFF2-40B4-BE49-F238E27FC236}">
                <a16:creationId xmlns:a16="http://schemas.microsoft.com/office/drawing/2014/main" id="{0D92B3FA-49B0-707E-0064-39E131DB0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e1396a10_0_10:notes">
            <a:extLst>
              <a:ext uri="{FF2B5EF4-FFF2-40B4-BE49-F238E27FC236}">
                <a16:creationId xmlns:a16="http://schemas.microsoft.com/office/drawing/2014/main" id="{07EECFC7-0334-91A8-81B9-A12B8A0FA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11410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EA05800-632C-DF60-C720-18C153C7C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c5f2b78f_0_12:notes">
            <a:extLst>
              <a:ext uri="{FF2B5EF4-FFF2-40B4-BE49-F238E27FC236}">
                <a16:creationId xmlns:a16="http://schemas.microsoft.com/office/drawing/2014/main" id="{D08F7181-DB0C-6607-EBDD-25392A097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c5f2b78f_0_12:notes">
            <a:extLst>
              <a:ext uri="{FF2B5EF4-FFF2-40B4-BE49-F238E27FC236}">
                <a16:creationId xmlns:a16="http://schemas.microsoft.com/office/drawing/2014/main" id="{70BE5A17-8532-904B-B2FD-68AC4632C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375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c5f2b78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fc5f2b78f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fc5f2b78f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fc5f2b78f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c5f2b78f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c5f2b78f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fc5f2b78f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fc5f2b78f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c5f2b78f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7fc5f2b78f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local pointmap head learns more accurate pointmaps than the global pointmap head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Independently align each image’s local pointmap to the global pointmap using ICP and use aligned local pointmaps for evaluation.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fc5f2b78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fc5f2b78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e.g. N = 20, N’ = 1000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0e1396a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0e1396a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0e1396a10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0e1396a10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fc5f2b78f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fc5f2b78f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COLMAP or ground-truth camera poses are shown as blue frustums, while regressed camera poses are shown 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yellow, with red indicating anchor images.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0f3b1a1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0f3b1a15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0f3b1a15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0f3b1a15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Attention mask is applied during inference. Specifically, tokens from query frames cannot attend to tokens from other query frames; they can only attend to tokens within the same frame and to the scene representation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0f3b1a15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0f3b1a15d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0f3b1a15d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0f3b1a15d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0f3b1a15d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0f3b1a15d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80f3b1a15d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80f3b1a15d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⊙: element-wise product</a:t>
            </a:r>
            <a:br>
              <a:rPr lang="zh-TW"/>
            </a:br>
            <a:r>
              <a:rPr lang="zh-TW"/>
              <a:t>compute the average Euclidean distance from the camera center of Ir to the 3D points of all anchor frames.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0f3b1a15d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0f3b1a15d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⊙: element-wise product</a:t>
            </a:r>
            <a:br>
              <a:rPr lang="zh-TW"/>
            </a:br>
            <a:r>
              <a:rPr lang="zh-TW"/>
              <a:t>compute the average Euclidean distance from the camera center of Ir to the 3D points of all anchor frames.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>
          <a:extLst>
            <a:ext uri="{FF2B5EF4-FFF2-40B4-BE49-F238E27FC236}">
              <a16:creationId xmlns:a16="http://schemas.microsoft.com/office/drawing/2014/main" id="{EC6C2FBE-B09E-457B-7E0C-E7753821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0f3b1a15d_1_44:notes">
            <a:extLst>
              <a:ext uri="{FF2B5EF4-FFF2-40B4-BE49-F238E27FC236}">
                <a16:creationId xmlns:a16="http://schemas.microsoft.com/office/drawing/2014/main" id="{B4578E1E-AFB8-2E52-AF98-888B5A5C4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80f3b1a15d_1_44:notes">
            <a:extLst>
              <a:ext uri="{FF2B5EF4-FFF2-40B4-BE49-F238E27FC236}">
                <a16:creationId xmlns:a16="http://schemas.microsoft.com/office/drawing/2014/main" id="{FB8A7F6E-7CFD-37FF-FB56-889D17C9C5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⊙: element-wise product</a:t>
            </a:r>
            <a:br>
              <a:rPr lang="zh-TW"/>
            </a:br>
            <a:r>
              <a:rPr lang="zh-TW"/>
              <a:t>compute the average Euclidean distance from the camera center of Ir to the 3D points of all anchor frames.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30604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0f3b1a15d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80f3b1a15d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We first estimate camera poses for all images of a scene. We then split these images into training and testing sets, and train a Nerfacto model on the training set and render images in the testing view.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0f3b1a15d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0f3b1a15d_1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⊙: element-wise product</a:t>
            </a:r>
            <a:br>
              <a:rPr lang="zh-TW"/>
            </a:br>
            <a:r>
              <a:rPr lang="zh-TW"/>
              <a:t>compute the average Euclidean distance from the camera center of Ir to the 3D points of all anchor frames.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F06E9C17-C300-5D4B-522E-8EDD0229F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0f3b1a15d_1_95:notes">
            <a:extLst>
              <a:ext uri="{FF2B5EF4-FFF2-40B4-BE49-F238E27FC236}">
                <a16:creationId xmlns:a16="http://schemas.microsoft.com/office/drawing/2014/main" id="{821536A3-31A6-A50D-13F4-1A4E0D9E6C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80f3b1a15d_1_95:notes">
            <a:extLst>
              <a:ext uri="{FF2B5EF4-FFF2-40B4-BE49-F238E27FC236}">
                <a16:creationId xmlns:a16="http://schemas.microsoft.com/office/drawing/2014/main" id="{BCA89AC8-03F7-DD3E-0707-5EEE61C82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⊙: element-wise product</a:t>
            </a:r>
            <a:br>
              <a:rPr lang="zh-TW"/>
            </a:br>
            <a:r>
              <a:rPr lang="zh-TW"/>
              <a:t>compute the average Euclidean distance from the camera center of Ir to the 3D points of all anchor frames.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59333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fc5f2b78f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fc5f2b78f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0f3b1a15d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0f3b1a15d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80f3b1a15d_1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80f3b1a15d_1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ViT encoder &amp; ViT decoder</a:t>
            </a:r>
            <a:br>
              <a:rPr lang="zh-TW"/>
            </a:br>
            <a:r>
              <a:rPr lang="zh-TW">
                <a:solidFill>
                  <a:schemeClr val="dk1"/>
                </a:solidFill>
              </a:rPr>
              <a:t>The state0 tokens are initialized as a set of learnable tokens shared by all scenes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State consists of 768 tokens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80f3b1a15d_1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80f3b1a15d_1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Within the decoders, the outputs from both sides cross-attend to each other at each decoder block to ensure effective information transfer.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80f3b1a15d_1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80f3b1a15d_1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Within the decoders, the outputs from both sides cross-attend to each other at each decoder block to ensure effective information transfer.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0f3b1a15d_1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0f3b1a15d_1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80f3b1a15d_1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80f3b1a15d_1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0f3b1a15d_1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0f3b1a15d_1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We additionally include DUSt3R where we align all video frames with first frame, without using GA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NC: normal consistency (mean of the dot product of the ground truth and predicted normals)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446A5117-5E9E-4060-782B-55912A52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0f3b1a15d_1_236:notes">
            <a:extLst>
              <a:ext uri="{FF2B5EF4-FFF2-40B4-BE49-F238E27FC236}">
                <a16:creationId xmlns:a16="http://schemas.microsoft.com/office/drawing/2014/main" id="{CAC9C72D-3FA8-E669-548D-90D255520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0f3b1a15d_1_236:notes">
            <a:extLst>
              <a:ext uri="{FF2B5EF4-FFF2-40B4-BE49-F238E27FC236}">
                <a16:creationId xmlns:a16="http://schemas.microsoft.com/office/drawing/2014/main" id="{68527F3A-11C3-57F3-391D-C83020D03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We additionally include DUSt3R where we align all video frames with first frame, without using GA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NC: normal consistency (mean of the dot product of the ground truth and predicted normals)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020914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B308C78-393A-7ED6-A16B-DDB71C2D9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>
            <a:extLst>
              <a:ext uri="{FF2B5EF4-FFF2-40B4-BE49-F238E27FC236}">
                <a16:creationId xmlns:a16="http://schemas.microsoft.com/office/drawing/2014/main" id="{186EF953-8535-8C13-4557-E95AA800C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>
            <a:extLst>
              <a:ext uri="{FF2B5EF4-FFF2-40B4-BE49-F238E27FC236}">
                <a16:creationId xmlns:a16="http://schemas.microsoft.com/office/drawing/2014/main" id="{4DC7C52C-F814-2670-58D8-7A55139D6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03795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081F8AC-7E68-E4BA-4797-314FE22F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>
            <a:extLst>
              <a:ext uri="{FF2B5EF4-FFF2-40B4-BE49-F238E27FC236}">
                <a16:creationId xmlns:a16="http://schemas.microsoft.com/office/drawing/2014/main" id="{D09B3293-2495-15C5-DFBB-6CD2699F84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>
            <a:extLst>
              <a:ext uri="{FF2B5EF4-FFF2-40B4-BE49-F238E27FC236}">
                <a16:creationId xmlns:a16="http://schemas.microsoft.com/office/drawing/2014/main" id="{D74A8785-F2E3-CC9C-2398-6F88C5F08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6471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84FF2EC-67AA-E6E0-4FDE-A0CE87EAB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>
            <a:extLst>
              <a:ext uri="{FF2B5EF4-FFF2-40B4-BE49-F238E27FC236}">
                <a16:creationId xmlns:a16="http://schemas.microsoft.com/office/drawing/2014/main" id="{E4CF6BEA-C48F-D893-DAC8-10B87C9CB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>
            <a:extLst>
              <a:ext uri="{FF2B5EF4-FFF2-40B4-BE49-F238E27FC236}">
                <a16:creationId xmlns:a16="http://schemas.microsoft.com/office/drawing/2014/main" id="{A40593C7-4A30-BEB4-ACA8-F4BB762655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761553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F451C4B-A081-5B11-A074-3E7041B5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>
            <a:extLst>
              <a:ext uri="{FF2B5EF4-FFF2-40B4-BE49-F238E27FC236}">
                <a16:creationId xmlns:a16="http://schemas.microsoft.com/office/drawing/2014/main" id="{792F66A5-5075-B2D7-7975-13C10C9B6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>
            <a:extLst>
              <a:ext uri="{FF2B5EF4-FFF2-40B4-BE49-F238E27FC236}">
                <a16:creationId xmlns:a16="http://schemas.microsoft.com/office/drawing/2014/main" id="{8967CD54-9260-D5F8-EA48-773248E795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85958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A60FEDF-E9DA-077E-F7BD-9AA07AEB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c5f2b78f_0_6:notes">
            <a:extLst>
              <a:ext uri="{FF2B5EF4-FFF2-40B4-BE49-F238E27FC236}">
                <a16:creationId xmlns:a16="http://schemas.microsoft.com/office/drawing/2014/main" id="{1A370128-6CE5-D255-8422-9CDC78974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c5f2b78f_0_6:notes">
            <a:extLst>
              <a:ext uri="{FF2B5EF4-FFF2-40B4-BE49-F238E27FC236}">
                <a16:creationId xmlns:a16="http://schemas.microsoft.com/office/drawing/2014/main" id="{A5E44076-D4A8-2D56-01D0-5880BE1F8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616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y8e5cFyhyUtpNmqetqwoikedCk5BokM0/view?usp=drive_link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sybkdJTTJXHUOVaN6qHttRPQq_M_Efm/view?usp=drive_link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k0SLvmEQlJkGr9slFA0PBtLFeZbjan_-/view?usp=drive_link" TargetMode="External"/><Relationship Id="rId4" Type="http://schemas.openxmlformats.org/officeDocument/2006/relationships/hyperlink" Target="https://drive.google.com/file/d/1H69HFf34-B6nFwfYdhyA_B6-Y5ZzOInh/view?usp=drive_link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hyperlink" Target="https://drive.google.com/file/d/1--9juyEvTxbj31mGqRGyf5RNhgapPGWf/view?usp=drive_link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file/d/1LMHAfo0y7vjIiKcU2wfmtCUJeGgSCR0g/view?usp=drive_link" TargetMode="External"/><Relationship Id="rId5" Type="http://schemas.openxmlformats.org/officeDocument/2006/relationships/hyperlink" Target="https://drive.google.com/file/d/1rWwR7jEL7nfMufwe-vkgRHd8hkqNbDuI/view?usp=drive_link" TargetMode="External"/><Relationship Id="rId4" Type="http://schemas.openxmlformats.org/officeDocument/2006/relationships/hyperlink" Target="https://drive.google.com/file/d/1506ySdJ72iz8OO497bI8Tdb0OSgvU1cM/view?usp=drive_link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115237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en-US" altLang="zh-TW" sz="4800" dirty="0">
                <a:latin typeface="Calibri Light" panose="020F0302020204030204" pitchFamily="34" charset="0"/>
                <a:ea typeface="Times New Roman"/>
                <a:cs typeface="Calibri Light" panose="020F0302020204030204" pitchFamily="34" charset="0"/>
                <a:sym typeface="Times New Roman"/>
              </a:rPr>
              <a:t>Towards Feed-forward</a:t>
            </a:r>
            <a:br>
              <a:rPr lang="en-US" altLang="zh-TW" sz="4800" dirty="0">
                <a:latin typeface="Calibri Light" panose="020F0302020204030204" pitchFamily="34" charset="0"/>
                <a:ea typeface="Times New Roman"/>
                <a:cs typeface="Calibri Light" panose="020F0302020204030204" pitchFamily="34" charset="0"/>
                <a:sym typeface="Times New Roman"/>
              </a:rPr>
            </a:br>
            <a:r>
              <a:rPr lang="en-US" altLang="zh-TW" sz="4800" dirty="0">
                <a:latin typeface="Calibri Light" panose="020F0302020204030204" pitchFamily="34" charset="0"/>
                <a:ea typeface="Times New Roman"/>
                <a:cs typeface="Calibri Light" panose="020F0302020204030204" pitchFamily="34" charset="0"/>
                <a:sym typeface="Times New Roman"/>
              </a:rPr>
              <a:t>3D Reconstruction</a:t>
            </a:r>
            <a:endParaRPr lang="en-US" sz="4800" dirty="0">
              <a:latin typeface="Calibri Light" panose="020F0302020204030204" pitchFamily="34" charset="0"/>
              <a:ea typeface="Times New Roman"/>
              <a:cs typeface="Calibri Light" panose="020F0302020204030204" pitchFamily="34" charset="0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77832" y="335063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lang="en-TW" sz="2000" dirty="0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Yu-Chun Lin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2000" dirty="0"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</p:txBody>
      </p:sp>
      <p:cxnSp>
        <p:nvCxnSpPr>
          <p:cNvPr id="57" name="Google Shape;57;p13"/>
          <p:cNvCxnSpPr>
            <a:cxnSpLocks/>
          </p:cNvCxnSpPr>
          <p:nvPr/>
        </p:nvCxnSpPr>
        <p:spPr>
          <a:xfrm>
            <a:off x="3772212" y="4013637"/>
            <a:ext cx="153184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35;p20">
            <a:extLst>
              <a:ext uri="{FF2B5EF4-FFF2-40B4-BE49-F238E27FC236}">
                <a16:creationId xmlns:a16="http://schemas.microsoft.com/office/drawing/2014/main" id="{9329451C-8C72-2EDE-4651-12D43BBA9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880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  <a:p>
            <a:pPr lvl="1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</a:p>
          <a:p>
            <a:pPr lvl="1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Basis</a:t>
            </a:r>
          </a:p>
          <a:p>
            <a:pPr lvl="2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Traditional Methods</a:t>
            </a:r>
          </a:p>
          <a:p>
            <a:pPr lvl="2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</a:p>
          <a:p>
            <a:pPr marL="1054100" lvl="2" indent="0">
              <a:buClr>
                <a:srgbClr val="212529"/>
              </a:buClr>
              <a:buSzPts val="1800"/>
              <a:buNone/>
            </a:pPr>
            <a:endParaRPr lang="en-US" sz="16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Feed-forward 3D Reconstruction</a:t>
            </a:r>
          </a:p>
          <a:p>
            <a:pPr lvl="1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Current Problems</a:t>
            </a:r>
          </a:p>
          <a:p>
            <a:pPr lvl="1">
              <a:buClr>
                <a:srgbClr val="212529"/>
              </a:buClr>
              <a:buSzPts val="1800"/>
              <a:buFontTx/>
              <a:buChar char="-"/>
            </a:pPr>
            <a:r>
              <a:rPr lang="en-US" sz="16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Scope of Improvement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None/>
            </a:pPr>
            <a:b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Technical Highlights of Current Methods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None/>
            </a:pPr>
            <a:endParaRPr lang="en-US"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18D3679B-1018-D627-6EB6-3BE69666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5;p20">
            <a:extLst>
              <a:ext uri="{FF2B5EF4-FFF2-40B4-BE49-F238E27FC236}">
                <a16:creationId xmlns:a16="http://schemas.microsoft.com/office/drawing/2014/main" id="{7FC16BA6-8C5A-5E49-AB2A-64BECA43A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Clr>
                <a:srgbClr val="212529"/>
              </a:buClr>
              <a:buNone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creating a digital three-dimensional model of an object or scene from data</a:t>
            </a:r>
            <a:r>
              <a:rPr lang="en-US" sz="20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turns </a:t>
            </a:r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(2D) observations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 a usable </a:t>
            </a:r>
            <a:r>
              <a:rPr lang="en-US" sz="20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model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F1D88B8-98A4-89E2-3DBD-B6FDC50FF0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What is 3D Reconstruction?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68D6609C-098A-A5E1-6AD7-811E707963A5}"/>
              </a:ext>
            </a:extLst>
          </p:cNvPr>
          <p:cNvSpPr/>
          <p:nvPr/>
        </p:nvSpPr>
        <p:spPr>
          <a:xfrm>
            <a:off x="480290" y="2232922"/>
            <a:ext cx="3158837" cy="2247638"/>
          </a:xfrm>
          <a:prstGeom prst="wedgeRoundRectCallout">
            <a:avLst>
              <a:gd name="adj1" fmla="val 25276"/>
              <a:gd name="adj2" fmla="val -47673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Videos</a:t>
            </a:r>
          </a:p>
          <a:p>
            <a:pPr algn="ctr"/>
            <a:r>
              <a:rPr lang="en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(ordered/unordered) Images</a:t>
            </a:r>
          </a:p>
          <a:p>
            <a:pPr algn="ctr"/>
            <a:r>
              <a:rPr lang="en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Depth (Kinect, LiDAR)?</a:t>
            </a:r>
          </a:p>
          <a:p>
            <a:pPr algn="ctr"/>
            <a:r>
              <a:rPr lang="en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IMU?</a:t>
            </a:r>
          </a:p>
          <a:p>
            <a:pPr algn="ctr"/>
            <a:r>
              <a:rPr lang="en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397BAA3E-67DB-A7F4-2F82-65E814473ABB}"/>
              </a:ext>
            </a:extLst>
          </p:cNvPr>
          <p:cNvSpPr/>
          <p:nvPr/>
        </p:nvSpPr>
        <p:spPr>
          <a:xfrm>
            <a:off x="4128655" y="2232922"/>
            <a:ext cx="4345708" cy="2247637"/>
          </a:xfrm>
          <a:prstGeom prst="wedgeRoundRectCallout">
            <a:avLst>
              <a:gd name="adj1" fmla="val 20538"/>
              <a:gd name="adj2" fmla="val -46600"/>
              <a:gd name="adj3" fmla="val 16667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 cloud: A set of 3D points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Meshes: Points connected into triangles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Voxel: A 3D pixel</a:t>
            </a:r>
          </a:p>
          <a:p>
            <a:pPr algn="ctr"/>
            <a:r>
              <a:rPr lang="en-US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NeRF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3D Gaussians, …</a:t>
            </a:r>
          </a:p>
        </p:txBody>
      </p:sp>
    </p:spTree>
    <p:extLst>
      <p:ext uri="{BB962C8B-B14F-4D97-AF65-F5344CB8AC3E}">
        <p14:creationId xmlns:p14="http://schemas.microsoft.com/office/powerpoint/2010/main" val="182841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D891105-CFD0-6FA9-D01A-943D9F84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35;p20">
            <a:extLst>
              <a:ext uri="{FF2B5EF4-FFF2-40B4-BE49-F238E27FC236}">
                <a16:creationId xmlns:a16="http://schemas.microsoft.com/office/drawing/2014/main" id="{E6F95B08-569B-CFED-F42C-8FDF0F06D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Clr>
                <a:srgbClr val="212529"/>
              </a:buClr>
              <a:buNone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creating a digital three-dimensional model of an object or scene from data</a:t>
            </a:r>
            <a:r>
              <a:rPr lang="en-US" sz="2000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turns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(2D) observations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into a usable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model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49B243B-2C12-54BB-D9D2-A953BBCD02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What is 3D Reconstruction?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9CE5391-BFC0-F884-6FBE-002C3089CDD5}"/>
              </a:ext>
            </a:extLst>
          </p:cNvPr>
          <p:cNvGrpSpPr/>
          <p:nvPr/>
        </p:nvGrpSpPr>
        <p:grpSpPr>
          <a:xfrm>
            <a:off x="311700" y="2028010"/>
            <a:ext cx="8609345" cy="3038384"/>
            <a:chOff x="311700" y="1909138"/>
            <a:chExt cx="8609345" cy="3038384"/>
          </a:xfrm>
        </p:grpSpPr>
        <p:pic>
          <p:nvPicPr>
            <p:cNvPr id="1026" name="Picture 2" descr="1. 3D AI: Data representation. 🥸3D data representation | by phamtdong0406  #AIchecker | Medium">
              <a:extLst>
                <a:ext uri="{FF2B5EF4-FFF2-40B4-BE49-F238E27FC236}">
                  <a16:creationId xmlns:a16="http://schemas.microsoft.com/office/drawing/2014/main" id="{992FBE66-1920-B5FA-8F01-BE66B49DEA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700" y="1909138"/>
              <a:ext cx="8609345" cy="2780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42C7CB-DF18-57B6-C83C-439B85F3D756}"/>
                </a:ext>
              </a:extLst>
            </p:cNvPr>
            <p:cNvSpPr txBox="1"/>
            <p:nvPr/>
          </p:nvSpPr>
          <p:spPr>
            <a:xfrm>
              <a:off x="2690590" y="4701301"/>
              <a:ext cx="385156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TW" sz="1000" dirty="0">
                  <a:latin typeface="Calibri" panose="020F0502020204030204" pitchFamily="34" charset="0"/>
                  <a:cs typeface="Calibri" panose="020F0502020204030204" pitchFamily="34" charset="0"/>
                </a:rPr>
                <a:t>https://miro.medium.com/v2/resize:fit:1400/0*l233ieenj80ogEOa.png</a:t>
              </a:r>
            </a:p>
          </p:txBody>
        </p:sp>
      </p:grpSp>
      <p:sp>
        <p:nvSpPr>
          <p:cNvPr id="11" name="Frame 10">
            <a:extLst>
              <a:ext uri="{FF2B5EF4-FFF2-40B4-BE49-F238E27FC236}">
                <a16:creationId xmlns:a16="http://schemas.microsoft.com/office/drawing/2014/main" id="{04ED9E91-5B61-2BA8-7D36-4B36A0984B7E}"/>
              </a:ext>
            </a:extLst>
          </p:cNvPr>
          <p:cNvSpPr/>
          <p:nvPr/>
        </p:nvSpPr>
        <p:spPr>
          <a:xfrm>
            <a:off x="311700" y="2052821"/>
            <a:ext cx="2748023" cy="2755290"/>
          </a:xfrm>
          <a:prstGeom prst="frame">
            <a:avLst>
              <a:gd name="adj1" fmla="val 13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75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244AE58E-2305-7484-5558-81EFB294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C9759953-B317-5376-38E1-638C38F3B8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A970B4-9C07-5409-185C-F776CE503859}"/>
              </a:ext>
            </a:extLst>
          </p:cNvPr>
          <p:cNvSpPr/>
          <p:nvPr/>
        </p:nvSpPr>
        <p:spPr>
          <a:xfrm>
            <a:off x="1796796" y="1572453"/>
            <a:ext cx="5550408" cy="6492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C46BF3-136D-4993-81E3-E827B9A3A930}"/>
              </a:ext>
            </a:extLst>
          </p:cNvPr>
          <p:cNvSpPr/>
          <p:nvPr/>
        </p:nvSpPr>
        <p:spPr>
          <a:xfrm>
            <a:off x="311700" y="2722311"/>
            <a:ext cx="2330916" cy="6492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Structure-from-Motion</a:t>
            </a:r>
          </a:p>
          <a:p>
            <a:pPr algn="ctr"/>
            <a:r>
              <a:rPr lang="en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(SfM)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D8E74-7842-6B3D-C60A-BD79F2231501}"/>
              </a:ext>
            </a:extLst>
          </p:cNvPr>
          <p:cNvSpPr/>
          <p:nvPr/>
        </p:nvSpPr>
        <p:spPr>
          <a:xfrm>
            <a:off x="3018780" y="2722311"/>
            <a:ext cx="3933805" cy="6492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Simultaneous Localization and Mapping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(SLAM)</a:t>
            </a:r>
            <a:endParaRPr lang="en-TW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F9E177-0DD0-C6D9-FCC3-F372B01961E2}"/>
              </a:ext>
            </a:extLst>
          </p:cNvPr>
          <p:cNvSpPr/>
          <p:nvPr/>
        </p:nvSpPr>
        <p:spPr>
          <a:xfrm>
            <a:off x="7285724" y="2722311"/>
            <a:ext cx="1399250" cy="649224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6321C5-EC89-0DF8-CF5A-792ACDC98978}"/>
              </a:ext>
            </a:extLst>
          </p:cNvPr>
          <p:cNvSpPr txBox="1"/>
          <p:nvPr/>
        </p:nvSpPr>
        <p:spPr>
          <a:xfrm>
            <a:off x="1885708" y="3046923"/>
            <a:ext cx="756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Offline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B42C3-320B-FB2B-BAA2-32EA9E121986}"/>
              </a:ext>
            </a:extLst>
          </p:cNvPr>
          <p:cNvSpPr txBox="1"/>
          <p:nvPr/>
        </p:nvSpPr>
        <p:spPr>
          <a:xfrm>
            <a:off x="6220061" y="3043218"/>
            <a:ext cx="732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E516CDA-61F0-95F1-D4D2-DF2B311AFB8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4572000" y="2221677"/>
            <a:ext cx="0" cy="204676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2FAC540-6B32-8933-7A86-CAFDF069F8B2}"/>
              </a:ext>
            </a:extLst>
          </p:cNvPr>
          <p:cNvCxnSpPr>
            <a:cxnSpLocks/>
          </p:cNvCxnSpPr>
          <p:nvPr/>
        </p:nvCxnSpPr>
        <p:spPr>
          <a:xfrm flipH="1">
            <a:off x="1477158" y="2426353"/>
            <a:ext cx="6515733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39017D-5290-6A91-A11D-9E84BD8E631C}"/>
              </a:ext>
            </a:extLst>
          </p:cNvPr>
          <p:cNvCxnSpPr>
            <a:cxnSpLocks/>
          </p:cNvCxnSpPr>
          <p:nvPr/>
        </p:nvCxnSpPr>
        <p:spPr>
          <a:xfrm>
            <a:off x="4956913" y="2426353"/>
            <a:ext cx="0" cy="29595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5587E9-652B-2ED2-486D-523F294B3444}"/>
              </a:ext>
            </a:extLst>
          </p:cNvPr>
          <p:cNvCxnSpPr>
            <a:cxnSpLocks/>
          </p:cNvCxnSpPr>
          <p:nvPr/>
        </p:nvCxnSpPr>
        <p:spPr>
          <a:xfrm>
            <a:off x="7992891" y="2426353"/>
            <a:ext cx="0" cy="29595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FE0392-94DC-7DA5-1274-DFFF92856F6C}"/>
              </a:ext>
            </a:extLst>
          </p:cNvPr>
          <p:cNvCxnSpPr>
            <a:cxnSpLocks/>
          </p:cNvCxnSpPr>
          <p:nvPr/>
        </p:nvCxnSpPr>
        <p:spPr>
          <a:xfrm>
            <a:off x="1489564" y="2426353"/>
            <a:ext cx="0" cy="29595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9068733-7395-4160-53CD-E86A814662D6}"/>
              </a:ext>
            </a:extLst>
          </p:cNvPr>
          <p:cNvCxnSpPr>
            <a:cxnSpLocks/>
          </p:cNvCxnSpPr>
          <p:nvPr/>
        </p:nvCxnSpPr>
        <p:spPr>
          <a:xfrm flipV="1">
            <a:off x="646386" y="3385477"/>
            <a:ext cx="0" cy="25635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FC9A422-1B94-35D9-ACFB-6DF54AD0E8E4}"/>
              </a:ext>
            </a:extLst>
          </p:cNvPr>
          <p:cNvCxnSpPr>
            <a:cxnSpLocks/>
          </p:cNvCxnSpPr>
          <p:nvPr/>
        </p:nvCxnSpPr>
        <p:spPr>
          <a:xfrm>
            <a:off x="646386" y="3641835"/>
            <a:ext cx="14189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396CD33-7871-8B5A-A1C5-0E090B9DA839}"/>
              </a:ext>
            </a:extLst>
          </p:cNvPr>
          <p:cNvSpPr txBox="1"/>
          <p:nvPr/>
        </p:nvSpPr>
        <p:spPr>
          <a:xfrm>
            <a:off x="788276" y="3448349"/>
            <a:ext cx="1395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D7D5834-3B23-8973-CA79-531D2C282C13}"/>
              </a:ext>
            </a:extLst>
          </p:cNvPr>
          <p:cNvCxnSpPr>
            <a:cxnSpLocks/>
          </p:cNvCxnSpPr>
          <p:nvPr/>
        </p:nvCxnSpPr>
        <p:spPr>
          <a:xfrm flipV="1">
            <a:off x="3344917" y="3361268"/>
            <a:ext cx="0" cy="25635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4565671-3181-13AF-C6AF-506775A7E220}"/>
              </a:ext>
            </a:extLst>
          </p:cNvPr>
          <p:cNvCxnSpPr>
            <a:cxnSpLocks/>
          </p:cNvCxnSpPr>
          <p:nvPr/>
        </p:nvCxnSpPr>
        <p:spPr>
          <a:xfrm>
            <a:off x="3344917" y="3617626"/>
            <a:ext cx="141890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BA68F1D-8B6D-C376-E770-CAEA42BA7288}"/>
              </a:ext>
            </a:extLst>
          </p:cNvPr>
          <p:cNvSpPr txBox="1"/>
          <p:nvPr/>
        </p:nvSpPr>
        <p:spPr>
          <a:xfrm>
            <a:off x="3486807" y="3432960"/>
            <a:ext cx="31583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ORB-SLAM 2/3</a:t>
            </a:r>
          </a:p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DSO</a:t>
            </a:r>
          </a:p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LSD-SLAM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9B7A96A-D1C5-EBFA-B993-34F83D7BF914}"/>
              </a:ext>
            </a:extLst>
          </p:cNvPr>
          <p:cNvSpPr/>
          <p:nvPr/>
        </p:nvSpPr>
        <p:spPr>
          <a:xfrm>
            <a:off x="6198704" y="4047637"/>
            <a:ext cx="2486270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 Input: Images</a:t>
            </a:r>
          </a:p>
          <a:p>
            <a:pPr algn="ctr"/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 O</a:t>
            </a:r>
            <a:r>
              <a:rPr lang="en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utput: Point Cloud </a:t>
            </a:r>
          </a:p>
        </p:txBody>
      </p:sp>
    </p:spTree>
    <p:extLst>
      <p:ext uri="{BB962C8B-B14F-4D97-AF65-F5344CB8AC3E}">
        <p14:creationId xmlns:p14="http://schemas.microsoft.com/office/powerpoint/2010/main" val="3002245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 flipH="1">
            <a:off x="3122625" y="1017725"/>
            <a:ext cx="5783700" cy="3666300"/>
          </a:xfrm>
          <a:prstGeom prst="round1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92775" y="1839388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261150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6129525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30175" y="1266737"/>
            <a:ext cx="2346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443250" y="1266737"/>
            <a:ext cx="2257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400275" y="1266737"/>
            <a:ext cx="2080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158525" y="624725"/>
            <a:ext cx="1747800" cy="494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98875" y="2488150"/>
            <a:ext cx="2209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312600" y="2044000"/>
            <a:ext cx="2518800" cy="2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Global Alignment: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DUSt3R, MASt3R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Coordinate Reconstruction: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ACE0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FlowMap, VGGSfM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180975" y="2372200"/>
            <a:ext cx="25188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VGGT-based</a:t>
            </a: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DUSt3R-based: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Cut3R, Fast3R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002665D7-4C2A-DA0B-1C39-667F0DFF0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126F0E4A-A025-2F1A-8C1E-D8351912D0C0}"/>
              </a:ext>
            </a:extLst>
          </p:cNvPr>
          <p:cNvSpPr/>
          <p:nvPr/>
        </p:nvSpPr>
        <p:spPr>
          <a:xfrm flipH="1">
            <a:off x="3122625" y="1017725"/>
            <a:ext cx="5783700" cy="3666300"/>
          </a:xfrm>
          <a:prstGeom prst="round1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B480720-B9AB-4ABE-ABFF-634CB06458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DD1ACDBA-5555-B1AE-EC13-AE4FF6E8393C}"/>
              </a:ext>
            </a:extLst>
          </p:cNvPr>
          <p:cNvSpPr/>
          <p:nvPr/>
        </p:nvSpPr>
        <p:spPr>
          <a:xfrm>
            <a:off x="392775" y="1839388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C9CD3858-B5BB-28EA-A120-CEC62CE9CEEE}"/>
              </a:ext>
            </a:extLst>
          </p:cNvPr>
          <p:cNvSpPr/>
          <p:nvPr/>
        </p:nvSpPr>
        <p:spPr>
          <a:xfrm>
            <a:off x="3261150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DED597A-623F-0AAA-659A-198CF9562A90}"/>
              </a:ext>
            </a:extLst>
          </p:cNvPr>
          <p:cNvSpPr/>
          <p:nvPr/>
        </p:nvSpPr>
        <p:spPr>
          <a:xfrm>
            <a:off x="6129525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6DE745D-88E0-7978-7F08-981289FBA858}"/>
              </a:ext>
            </a:extLst>
          </p:cNvPr>
          <p:cNvSpPr txBox="1"/>
          <p:nvPr/>
        </p:nvSpPr>
        <p:spPr>
          <a:xfrm>
            <a:off x="530175" y="1266737"/>
            <a:ext cx="2346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B47F76DD-CA2A-37EC-7CD0-F0D8DCB80CEC}"/>
              </a:ext>
            </a:extLst>
          </p:cNvPr>
          <p:cNvSpPr txBox="1"/>
          <p:nvPr/>
        </p:nvSpPr>
        <p:spPr>
          <a:xfrm>
            <a:off x="3443250" y="1266737"/>
            <a:ext cx="2257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A0BB33B6-77EE-634A-DE21-95C500F7DD30}"/>
              </a:ext>
            </a:extLst>
          </p:cNvPr>
          <p:cNvSpPr txBox="1"/>
          <p:nvPr/>
        </p:nvSpPr>
        <p:spPr>
          <a:xfrm>
            <a:off x="6400275" y="1266737"/>
            <a:ext cx="2080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329856E1-EBD1-7C50-9DC4-345A059CCD29}"/>
              </a:ext>
            </a:extLst>
          </p:cNvPr>
          <p:cNvSpPr txBox="1"/>
          <p:nvPr/>
        </p:nvSpPr>
        <p:spPr>
          <a:xfrm>
            <a:off x="7158525" y="624725"/>
            <a:ext cx="1747800" cy="494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D9194C62-E6BD-CA5A-E96F-5381B62438B3}"/>
              </a:ext>
            </a:extLst>
          </p:cNvPr>
          <p:cNvSpPr txBox="1"/>
          <p:nvPr/>
        </p:nvSpPr>
        <p:spPr>
          <a:xfrm>
            <a:off x="598875" y="2488150"/>
            <a:ext cx="2209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6488C84A-B085-88A1-CCDE-B55B7798B39A}"/>
              </a:ext>
            </a:extLst>
          </p:cNvPr>
          <p:cNvSpPr txBox="1"/>
          <p:nvPr/>
        </p:nvSpPr>
        <p:spPr>
          <a:xfrm>
            <a:off x="3312600" y="2044000"/>
            <a:ext cx="2518800" cy="2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Global Alignment: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DUSt3R, MASt3R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Coordinate Reconstruction: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ACE0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FlowMap, VGGSfM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35FA9E3F-E742-8B8E-496B-ED67AC10D998}"/>
              </a:ext>
            </a:extLst>
          </p:cNvPr>
          <p:cNvSpPr txBox="1"/>
          <p:nvPr/>
        </p:nvSpPr>
        <p:spPr>
          <a:xfrm>
            <a:off x="6180975" y="2372200"/>
            <a:ext cx="25188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r>
              <a:rPr lang="zh-TW" sz="16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-based</a:t>
            </a: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DUSt3R-based: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Cut3R, Fast3R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75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3E0AA37-B311-F03F-2A4F-9CB8F135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C8DB853C-281F-D40D-2FE9-5DCCF49520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35;p20">
            <a:extLst>
              <a:ext uri="{FF2B5EF4-FFF2-40B4-BE49-F238E27FC236}">
                <a16:creationId xmlns:a16="http://schemas.microsoft.com/office/drawing/2014/main" id="{BFC7C5C4-B199-8945-6E62-EDB29D960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 system for </a:t>
            </a:r>
            <a:r>
              <a:rPr lang="en-US" sz="2000" dirty="0" err="1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SfM</a:t>
            </a: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Multi-View Stereo (</a:t>
            </a: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MVS)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Input: (Un)ordered images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Output: Point Cloud &amp; Estimated camera poses</a:t>
            </a:r>
          </a:p>
        </p:txBody>
      </p:sp>
      <p:pic>
        <p:nvPicPr>
          <p:cNvPr id="3074" name="Picture 2" descr="Tutorial — COLMAP 3.14.0.dev0 | 5b9a079a (2025-11-14) documentation">
            <a:extLst>
              <a:ext uri="{FF2B5EF4-FFF2-40B4-BE49-F238E27FC236}">
                <a16:creationId xmlns:a16="http://schemas.microsoft.com/office/drawing/2014/main" id="{D1F3623A-6AB1-BA43-93D9-9BED152BE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5850" y="2688554"/>
            <a:ext cx="8832300" cy="1671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AAC14C-DB68-AF61-2DA9-ABB8D92468BB}"/>
              </a:ext>
            </a:extLst>
          </p:cNvPr>
          <p:cNvSpPr txBox="1"/>
          <p:nvPr/>
        </p:nvSpPr>
        <p:spPr>
          <a:xfrm>
            <a:off x="3475847" y="4833225"/>
            <a:ext cx="21923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colmap.github.io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tutorial.html</a:t>
            </a:r>
            <a:endParaRPr lang="en-TW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969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EBE8906-CBC5-897E-8B49-74FE5781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847972C0-5D3C-8A0B-B251-D2AB3AF90A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COLMAP: Feature Matching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35;p20">
            <a:extLst>
              <a:ext uri="{FF2B5EF4-FFF2-40B4-BE49-F238E27FC236}">
                <a16:creationId xmlns:a16="http://schemas.microsoft.com/office/drawing/2014/main" id="{CF6871BB-44E8-3368-8AAC-8706C6239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SIFT (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Scale-Invariant Feature Transform</a:t>
            </a: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lvl="1">
              <a:buClr>
                <a:srgbClr val="212529"/>
              </a:buClr>
              <a:buFontTx/>
              <a:buChar char="-"/>
            </a:pPr>
            <a:r>
              <a:rPr lang="en-US" sz="16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128-dimension descriptors of </a:t>
            </a:r>
            <a:r>
              <a:rPr lang="en-US" sz="1600" dirty="0" err="1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keypoints</a:t>
            </a:r>
            <a:endParaRPr lang="en-US" sz="16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 each descriptor of A with all descriptors of B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L2 distance to find the nearest neighbor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Lowe’s ratio test</a:t>
            </a: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0F84E4-805A-A0A2-66B6-13BD3841BE07}"/>
                  </a:ext>
                </a:extLst>
              </p:cNvPr>
              <p:cNvSpPr txBox="1"/>
              <p:nvPr/>
            </p:nvSpPr>
            <p:spPr>
              <a:xfrm>
                <a:off x="770480" y="2925489"/>
                <a:ext cx="3256236" cy="1772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den>
                      </m:f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</m:t>
                      </m:r>
                    </m:oMath>
                  </m:oMathPara>
                </a14:m>
                <a:endParaRPr lang="en-TW" sz="1800" dirty="0"/>
              </a:p>
              <a:p>
                <a:endParaRPr lang="en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TW" sz="1800" b="0" dirty="0"/>
                  <a:t> </a:t>
                </a:r>
                <a:r>
                  <a:rPr lang="en-TW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Descriptor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nearest neighbor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:r>
                  <a:rPr lang="en-US" sz="1800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The second nearest neighbor</a:t>
                </a:r>
                <a:endParaRPr lang="en-US" sz="1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20F84E4-805A-A0A2-66B6-13BD3841B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80" y="2925489"/>
                <a:ext cx="3256236" cy="1772986"/>
              </a:xfrm>
              <a:prstGeom prst="rect">
                <a:avLst/>
              </a:prstGeom>
              <a:blipFill>
                <a:blip r:embed="rId3"/>
                <a:stretch>
                  <a:fillRect r="-1163" b="-425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tatue of a person&#10;&#10;AI-generated content may be incorrect.">
            <a:extLst>
              <a:ext uri="{FF2B5EF4-FFF2-40B4-BE49-F238E27FC236}">
                <a16:creationId xmlns:a16="http://schemas.microsoft.com/office/drawing/2014/main" id="{475A960B-4B8A-176B-E434-15D1EB0CAE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1739" y="2571750"/>
            <a:ext cx="3681781" cy="245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C8A7BEB-61E5-0DB6-3830-2A24C53D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CEB5899-2015-DA71-5BF3-C57F7D818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COLMAP: Incremental Reconstruction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35;p20">
            <a:extLst>
              <a:ext uri="{FF2B5EF4-FFF2-40B4-BE49-F238E27FC236}">
                <a16:creationId xmlns:a16="http://schemas.microsoft.com/office/drawing/2014/main" id="{872A7282-5E41-883C-F92A-21E952B8D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Initialization: Camera poses &amp; 3D</a:t>
            </a:r>
            <a:r>
              <a:rPr lang="zh-TW" alt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Select next image to be added (i.e. overlap)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Solve for camera pose of the added image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Triangulate new 3D points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Bundle adjustment</a:t>
            </a:r>
          </a:p>
        </p:txBody>
      </p:sp>
      <p:pic>
        <p:nvPicPr>
          <p:cNvPr id="6146" name="Picture 2" descr="Sparse reconstruction of central Rome.">
            <a:extLst>
              <a:ext uri="{FF2B5EF4-FFF2-40B4-BE49-F238E27FC236}">
                <a16:creationId xmlns:a16="http://schemas.microsoft.com/office/drawing/2014/main" id="{FFEA2A90-80F3-62E7-B045-F438C4453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30132" y="2922320"/>
            <a:ext cx="7116462" cy="2137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0E907A-C75A-49CF-DEAF-A3D27FEE3A13}"/>
              </a:ext>
            </a:extLst>
          </p:cNvPr>
          <p:cNvSpPr txBox="1"/>
          <p:nvPr/>
        </p:nvSpPr>
        <p:spPr>
          <a:xfrm>
            <a:off x="24763" y="4833225"/>
            <a:ext cx="21923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colmap.github.io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tutorial.html</a:t>
            </a:r>
            <a:endParaRPr lang="en-TW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ircular Arrow 5">
            <a:extLst>
              <a:ext uri="{FF2B5EF4-FFF2-40B4-BE49-F238E27FC236}">
                <a16:creationId xmlns:a16="http://schemas.microsoft.com/office/drawing/2014/main" id="{ABB4E4F7-910C-CC27-DDBE-14D1D86640BA}"/>
              </a:ext>
            </a:extLst>
          </p:cNvPr>
          <p:cNvSpPr/>
          <p:nvPr/>
        </p:nvSpPr>
        <p:spPr>
          <a:xfrm rot="16200000" flipV="1">
            <a:off x="4628643" y="1723603"/>
            <a:ext cx="1586040" cy="1343277"/>
          </a:xfrm>
          <a:prstGeom prst="circularArrow">
            <a:avLst>
              <a:gd name="adj1" fmla="val 7957"/>
              <a:gd name="adj2" fmla="val 941732"/>
              <a:gd name="adj3" fmla="val 20505432"/>
              <a:gd name="adj4" fmla="val 9065713"/>
              <a:gd name="adj5" fmla="val 1659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01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B6B6B50-73FD-DA20-E5D8-72975D34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BA4CB0F3-24FD-B6EF-9853-1574AD7F1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COLMAP: Bundle Adjustment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35;p20">
            <a:extLst>
              <a:ext uri="{FF2B5EF4-FFF2-40B4-BE49-F238E27FC236}">
                <a16:creationId xmlns:a16="http://schemas.microsoft.com/office/drawing/2014/main" id="{97BA917E-1E5E-2ACA-3C6F-DD2F37520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Least squares approach to jointly estimate camera poses and 3D points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Minimize “</a:t>
            </a:r>
            <a:r>
              <a:rPr lang="en-US" sz="20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reprojection error</a:t>
            </a: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8528144-1D80-AD46-67E5-4A930BF536D7}"/>
              </a:ext>
            </a:extLst>
          </p:cNvPr>
          <p:cNvGrpSpPr/>
          <p:nvPr/>
        </p:nvGrpSpPr>
        <p:grpSpPr>
          <a:xfrm>
            <a:off x="4571999" y="1864292"/>
            <a:ext cx="4513192" cy="2793055"/>
            <a:chOff x="4235785" y="1541373"/>
            <a:chExt cx="4513192" cy="279305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862371-7925-2B54-0640-CA9C41198DCF}"/>
                </a:ext>
              </a:extLst>
            </p:cNvPr>
            <p:cNvSpPr/>
            <p:nvPr/>
          </p:nvSpPr>
          <p:spPr>
            <a:xfrm>
              <a:off x="5758957" y="3055574"/>
              <a:ext cx="1351006" cy="881449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CB392E1-34EC-5DC0-FA22-4F5BEEBDEE94}"/>
                </a:ext>
              </a:extLst>
            </p:cNvPr>
            <p:cNvSpPr/>
            <p:nvPr/>
          </p:nvSpPr>
          <p:spPr>
            <a:xfrm rot="353093">
              <a:off x="4235785" y="2589883"/>
              <a:ext cx="1422223" cy="849264"/>
            </a:xfrm>
            <a:custGeom>
              <a:avLst/>
              <a:gdLst>
                <a:gd name="csX0" fmla="*/ 0 w 1351006"/>
                <a:gd name="csY0" fmla="*/ 0 h 881449"/>
                <a:gd name="csX1" fmla="*/ 1351006 w 1351006"/>
                <a:gd name="csY1" fmla="*/ 0 h 881449"/>
                <a:gd name="csX2" fmla="*/ 1351006 w 1351006"/>
                <a:gd name="csY2" fmla="*/ 881449 h 881449"/>
                <a:gd name="csX3" fmla="*/ 0 w 1351006"/>
                <a:gd name="csY3" fmla="*/ 881449 h 881449"/>
                <a:gd name="csX4" fmla="*/ 0 w 1351006"/>
                <a:gd name="csY4" fmla="*/ 0 h 881449"/>
                <a:gd name="csX0" fmla="*/ 0 w 1351006"/>
                <a:gd name="csY0" fmla="*/ 0 h 881449"/>
                <a:gd name="csX1" fmla="*/ 1351006 w 1351006"/>
                <a:gd name="csY1" fmla="*/ 0 h 881449"/>
                <a:gd name="csX2" fmla="*/ 1351006 w 1351006"/>
                <a:gd name="csY2" fmla="*/ 881449 h 881449"/>
                <a:gd name="csX3" fmla="*/ 76032 w 1351006"/>
                <a:gd name="csY3" fmla="*/ 815641 h 881449"/>
                <a:gd name="csX4" fmla="*/ 0 w 1351006"/>
                <a:gd name="csY4" fmla="*/ 0 h 881449"/>
                <a:gd name="csX0" fmla="*/ 0 w 1427291"/>
                <a:gd name="csY0" fmla="*/ 0 h 898431"/>
                <a:gd name="csX1" fmla="*/ 1351006 w 1427291"/>
                <a:gd name="csY1" fmla="*/ 0 h 898431"/>
                <a:gd name="csX2" fmla="*/ 1427291 w 1427291"/>
                <a:gd name="csY2" fmla="*/ 898431 h 898431"/>
                <a:gd name="csX3" fmla="*/ 76032 w 1427291"/>
                <a:gd name="csY3" fmla="*/ 815641 h 898431"/>
                <a:gd name="csX4" fmla="*/ 0 w 1427291"/>
                <a:gd name="csY4" fmla="*/ 0 h 898431"/>
                <a:gd name="csX0" fmla="*/ 0 w 1422223"/>
                <a:gd name="csY0" fmla="*/ 0 h 849264"/>
                <a:gd name="csX1" fmla="*/ 1351006 w 1422223"/>
                <a:gd name="csY1" fmla="*/ 0 h 849264"/>
                <a:gd name="csX2" fmla="*/ 1422223 w 1422223"/>
                <a:gd name="csY2" fmla="*/ 849264 h 849264"/>
                <a:gd name="csX3" fmla="*/ 76032 w 1422223"/>
                <a:gd name="csY3" fmla="*/ 815641 h 849264"/>
                <a:gd name="csX4" fmla="*/ 0 w 1422223"/>
                <a:gd name="csY4" fmla="*/ 0 h 849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22223" h="849264">
                  <a:moveTo>
                    <a:pt x="0" y="0"/>
                  </a:moveTo>
                  <a:lnTo>
                    <a:pt x="1351006" y="0"/>
                  </a:lnTo>
                  <a:lnTo>
                    <a:pt x="1422223" y="849264"/>
                  </a:lnTo>
                  <a:lnTo>
                    <a:pt x="76032" y="81564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71D96E-EA28-8AFA-5C63-2D5CCF332825}"/>
                </a:ext>
              </a:extLst>
            </p:cNvPr>
            <p:cNvSpPr/>
            <p:nvPr/>
          </p:nvSpPr>
          <p:spPr>
            <a:xfrm>
              <a:off x="7239392" y="2613899"/>
              <a:ext cx="1359244" cy="1079157"/>
            </a:xfrm>
            <a:custGeom>
              <a:avLst/>
              <a:gdLst>
                <a:gd name="csX0" fmla="*/ 0 w 1351006"/>
                <a:gd name="csY0" fmla="*/ 0 h 881449"/>
                <a:gd name="csX1" fmla="*/ 1351006 w 1351006"/>
                <a:gd name="csY1" fmla="*/ 0 h 881449"/>
                <a:gd name="csX2" fmla="*/ 1351006 w 1351006"/>
                <a:gd name="csY2" fmla="*/ 881449 h 881449"/>
                <a:gd name="csX3" fmla="*/ 0 w 1351006"/>
                <a:gd name="csY3" fmla="*/ 881449 h 881449"/>
                <a:gd name="csX4" fmla="*/ 0 w 1351006"/>
                <a:gd name="csY4" fmla="*/ 0 h 881449"/>
                <a:gd name="csX0" fmla="*/ 0 w 1359244"/>
                <a:gd name="csY0" fmla="*/ 197708 h 1079157"/>
                <a:gd name="csX1" fmla="*/ 1359244 w 1359244"/>
                <a:gd name="csY1" fmla="*/ 0 h 1079157"/>
                <a:gd name="csX2" fmla="*/ 1351006 w 1359244"/>
                <a:gd name="csY2" fmla="*/ 1079157 h 1079157"/>
                <a:gd name="csX3" fmla="*/ 0 w 1359244"/>
                <a:gd name="csY3" fmla="*/ 1079157 h 1079157"/>
                <a:gd name="csX4" fmla="*/ 0 w 1359244"/>
                <a:gd name="csY4" fmla="*/ 197708 h 1079157"/>
                <a:gd name="csX0" fmla="*/ 0 w 1359244"/>
                <a:gd name="csY0" fmla="*/ 197708 h 1079157"/>
                <a:gd name="csX1" fmla="*/ 1359244 w 1359244"/>
                <a:gd name="csY1" fmla="*/ 0 h 1079157"/>
                <a:gd name="csX2" fmla="*/ 1342768 w 1359244"/>
                <a:gd name="csY2" fmla="*/ 864974 h 1079157"/>
                <a:gd name="csX3" fmla="*/ 0 w 1359244"/>
                <a:gd name="csY3" fmla="*/ 1079157 h 1079157"/>
                <a:gd name="csX4" fmla="*/ 0 w 1359244"/>
                <a:gd name="csY4" fmla="*/ 197708 h 1079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59244" h="1079157">
                  <a:moveTo>
                    <a:pt x="0" y="197708"/>
                  </a:moveTo>
                  <a:lnTo>
                    <a:pt x="1359244" y="0"/>
                  </a:lnTo>
                  <a:lnTo>
                    <a:pt x="1342768" y="864974"/>
                  </a:lnTo>
                  <a:lnTo>
                    <a:pt x="0" y="1079157"/>
                  </a:lnTo>
                  <a:lnTo>
                    <a:pt x="0" y="197708"/>
                  </a:lnTo>
                  <a:close/>
                </a:path>
              </a:pathLst>
            </a:custGeom>
            <a:noFill/>
            <a:ln w="190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14AA46E-DAAD-3F3C-ACFA-582AE2969A17}"/>
                </a:ext>
              </a:extLst>
            </p:cNvPr>
            <p:cNvSpPr/>
            <p:nvPr/>
          </p:nvSpPr>
          <p:spPr>
            <a:xfrm>
              <a:off x="6260757" y="1705232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A931BF-8D0D-114C-5ECA-7D2FA02055B4}"/>
                    </a:ext>
                  </a:extLst>
                </p:cNvPr>
                <p:cNvSpPr txBox="1"/>
                <p:nvPr/>
              </p:nvSpPr>
              <p:spPr>
                <a:xfrm>
                  <a:off x="6293708" y="1541373"/>
                  <a:ext cx="300681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7A931BF-8D0D-114C-5ECA-7D2FA0205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708" y="1541373"/>
                  <a:ext cx="300681" cy="327718"/>
                </a:xfrm>
                <a:prstGeom prst="rect">
                  <a:avLst/>
                </a:prstGeom>
                <a:blipFill>
                  <a:blip r:embed="rId3"/>
                  <a:stretch>
                    <a:fillRect r="-4167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FE48612-D539-CDEB-FA1D-D3E059C6CDB5}"/>
                </a:ext>
              </a:extLst>
            </p:cNvPr>
            <p:cNvSpPr/>
            <p:nvPr/>
          </p:nvSpPr>
          <p:spPr>
            <a:xfrm>
              <a:off x="4539049" y="3674966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EA85CE-FECD-3752-C060-FB02736D6DEE}"/>
                    </a:ext>
                  </a:extLst>
                </p:cNvPr>
                <p:cNvSpPr txBox="1"/>
                <p:nvPr/>
              </p:nvSpPr>
              <p:spPr>
                <a:xfrm>
                  <a:off x="4572000" y="3495423"/>
                  <a:ext cx="30068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CEA85CE-FECD-3752-C060-FB02736D6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3495423"/>
                  <a:ext cx="300681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4167" b="-8000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975FDB6-D75C-9463-9C6A-6BAD32B130EF}"/>
                </a:ext>
              </a:extLst>
            </p:cNvPr>
            <p:cNvSpPr/>
            <p:nvPr/>
          </p:nvSpPr>
          <p:spPr>
            <a:xfrm>
              <a:off x="6326659" y="4206194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7FA8B7-AC8C-C758-7BB0-5A073BD7259F}"/>
                    </a:ext>
                  </a:extLst>
                </p:cNvPr>
                <p:cNvSpPr txBox="1"/>
                <p:nvPr/>
              </p:nvSpPr>
              <p:spPr>
                <a:xfrm>
                  <a:off x="6359610" y="4026651"/>
                  <a:ext cx="30068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7FA8B7-AC8C-C758-7BB0-5A073BD725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610" y="4026651"/>
                  <a:ext cx="300681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C46D038-8C91-284D-A21C-91700E3B637F}"/>
                </a:ext>
              </a:extLst>
            </p:cNvPr>
            <p:cNvSpPr/>
            <p:nvPr/>
          </p:nvSpPr>
          <p:spPr>
            <a:xfrm>
              <a:off x="8415345" y="3635000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1269AF4-BE9E-91A6-22F1-8D7FE05DC823}"/>
                    </a:ext>
                  </a:extLst>
                </p:cNvPr>
                <p:cNvSpPr txBox="1"/>
                <p:nvPr/>
              </p:nvSpPr>
              <p:spPr>
                <a:xfrm>
                  <a:off x="8448296" y="3455457"/>
                  <a:ext cx="30068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1269AF4-BE9E-91A6-22F1-8D7FE05DC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296" y="3455457"/>
                  <a:ext cx="300681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7EA8D36-3D73-5850-EFBF-C0EFD358F238}"/>
                </a:ext>
              </a:extLst>
            </p:cNvPr>
            <p:cNvCxnSpPr>
              <a:cxnSpLocks/>
              <a:stCxn id="10" idx="3"/>
              <a:endCxn id="7" idx="3"/>
            </p:cNvCxnSpPr>
            <p:nvPr/>
          </p:nvCxnSpPr>
          <p:spPr>
            <a:xfrm flipV="1">
              <a:off x="4548700" y="1768515"/>
              <a:ext cx="1721708" cy="19697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497901-F271-5929-42AA-3E227486BF59}"/>
                </a:ext>
              </a:extLst>
            </p:cNvPr>
            <p:cNvCxnSpPr>
              <a:cxnSpLocks/>
              <a:stCxn id="12" idx="0"/>
              <a:endCxn id="7" idx="4"/>
            </p:cNvCxnSpPr>
            <p:nvPr/>
          </p:nvCxnSpPr>
          <p:spPr>
            <a:xfrm flipH="1" flipV="1">
              <a:off x="6293708" y="1779373"/>
              <a:ext cx="65902" cy="24268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C9D3DD7-0AD9-6070-3BDA-1C1A9E9E803F}"/>
                </a:ext>
              </a:extLst>
            </p:cNvPr>
            <p:cNvCxnSpPr>
              <a:cxnSpLocks/>
              <a:stCxn id="14" idx="1"/>
              <a:endCxn id="7" idx="5"/>
            </p:cNvCxnSpPr>
            <p:nvPr/>
          </p:nvCxnSpPr>
          <p:spPr>
            <a:xfrm flipH="1" flipV="1">
              <a:off x="6317008" y="1768515"/>
              <a:ext cx="2107988" cy="18773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0B98D02-BBE8-AD9F-F7CF-22571B5C7264}"/>
                </a:ext>
              </a:extLst>
            </p:cNvPr>
            <p:cNvSpPr/>
            <p:nvPr/>
          </p:nvSpPr>
          <p:spPr>
            <a:xfrm>
              <a:off x="5229929" y="2888404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E6CD623-D3EE-49F3-73A9-7DE124C23280}"/>
                </a:ext>
              </a:extLst>
            </p:cNvPr>
            <p:cNvSpPr/>
            <p:nvPr/>
          </p:nvSpPr>
          <p:spPr>
            <a:xfrm>
              <a:off x="6303359" y="3418386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0861DC3-94F2-1F4D-2466-F3A565926BE7}"/>
                </a:ext>
              </a:extLst>
            </p:cNvPr>
            <p:cNvSpPr/>
            <p:nvPr/>
          </p:nvSpPr>
          <p:spPr>
            <a:xfrm>
              <a:off x="7760345" y="3046347"/>
              <a:ext cx="65902" cy="741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18746E0-82E9-068F-45C8-00D29494E7E1}"/>
                    </a:ext>
                  </a:extLst>
                </p:cNvPr>
                <p:cNvSpPr txBox="1"/>
                <p:nvPr/>
              </p:nvSpPr>
              <p:spPr>
                <a:xfrm>
                  <a:off x="4432207" y="2725598"/>
                  <a:ext cx="764771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18746E0-82E9-068F-45C8-00D29494E7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2207" y="2725598"/>
                  <a:ext cx="764771" cy="327718"/>
                </a:xfrm>
                <a:prstGeom prst="rect">
                  <a:avLst/>
                </a:prstGeom>
                <a:blipFill>
                  <a:blip r:embed="rId7"/>
                  <a:stretch>
                    <a:fillRect r="-11475" b="-3846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20BFDBB-BC73-AAF9-7DEF-6CF4A71E0136}"/>
                    </a:ext>
                  </a:extLst>
                </p:cNvPr>
                <p:cNvSpPr txBox="1"/>
                <p:nvPr/>
              </p:nvSpPr>
              <p:spPr>
                <a:xfrm>
                  <a:off x="6293708" y="3181328"/>
                  <a:ext cx="764771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20BFDBB-BC73-AAF9-7DEF-6CF4A71E01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708" y="3181328"/>
                  <a:ext cx="764771" cy="327718"/>
                </a:xfrm>
                <a:prstGeom prst="rect">
                  <a:avLst/>
                </a:prstGeom>
                <a:blipFill>
                  <a:blip r:embed="rId8"/>
                  <a:stretch>
                    <a:fillRect r="-11475" b="-3846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0958A7A-DB09-6A00-C656-17909A43DA20}"/>
                    </a:ext>
                  </a:extLst>
                </p:cNvPr>
                <p:cNvSpPr txBox="1"/>
                <p:nvPr/>
              </p:nvSpPr>
              <p:spPr>
                <a:xfrm>
                  <a:off x="7208078" y="3144605"/>
                  <a:ext cx="764771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0958A7A-DB09-6A00-C656-17909A43DA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8078" y="3144605"/>
                  <a:ext cx="764771" cy="327718"/>
                </a:xfrm>
                <a:prstGeom prst="rect">
                  <a:avLst/>
                </a:prstGeom>
                <a:blipFill>
                  <a:blip r:embed="rId9"/>
                  <a:stretch>
                    <a:fillRect r="-8197"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9EA7E1A-6235-2F81-59F3-E2588FC742C8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4548700" y="2451196"/>
              <a:ext cx="1385310" cy="128705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5AD9FBA-D1F0-8146-E395-FA6CCA31A3D9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6145458" y="2667837"/>
              <a:ext cx="214152" cy="1512703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9034D18-E2AE-B059-1E72-13A3E3F4055B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6943060" y="1935553"/>
              <a:ext cx="1481936" cy="171030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2704038-006B-1CFB-FF5C-AAE4715993CD}"/>
                </a:ext>
              </a:extLst>
            </p:cNvPr>
            <p:cNvSpPr/>
            <p:nvPr/>
          </p:nvSpPr>
          <p:spPr>
            <a:xfrm>
              <a:off x="7919014" y="3057651"/>
              <a:ext cx="65902" cy="74141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BDE11EF2-5D83-5762-11DA-70BA904AF3A8}"/>
                </a:ext>
              </a:extLst>
            </p:cNvPr>
            <p:cNvSpPr/>
            <p:nvPr/>
          </p:nvSpPr>
          <p:spPr>
            <a:xfrm>
              <a:off x="6212149" y="3418386"/>
              <a:ext cx="65902" cy="74141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3C54B41-B9C4-4FA5-1C62-9BE4E2B0AF71}"/>
                </a:ext>
              </a:extLst>
            </p:cNvPr>
            <p:cNvSpPr/>
            <p:nvPr/>
          </p:nvSpPr>
          <p:spPr>
            <a:xfrm>
              <a:off x="5328782" y="2955712"/>
              <a:ext cx="65902" cy="74141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87C6408-7F8D-13AF-98E9-BEAE60774ECD}"/>
                    </a:ext>
                  </a:extLst>
                </p:cNvPr>
                <p:cNvSpPr txBox="1"/>
                <p:nvPr/>
              </p:nvSpPr>
              <p:spPr>
                <a:xfrm>
                  <a:off x="5196978" y="2980746"/>
                  <a:ext cx="372533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87C6408-7F8D-13AF-98E9-BEAE60774E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6978" y="2980746"/>
                  <a:ext cx="372533" cy="32771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9B3659F-32FF-F5E3-B4F8-A88BF19F0962}"/>
                    </a:ext>
                  </a:extLst>
                </p:cNvPr>
                <p:cNvSpPr txBox="1"/>
                <p:nvPr/>
              </p:nvSpPr>
              <p:spPr>
                <a:xfrm>
                  <a:off x="5916349" y="3365338"/>
                  <a:ext cx="372533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9B3659F-32FF-F5E3-B4F8-A88BF19F0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6349" y="3365338"/>
                  <a:ext cx="372533" cy="32771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4ACADB0-144D-98A1-D897-F1BD379ADD13}"/>
                    </a:ext>
                  </a:extLst>
                </p:cNvPr>
                <p:cNvSpPr txBox="1"/>
                <p:nvPr/>
              </p:nvSpPr>
              <p:spPr>
                <a:xfrm>
                  <a:off x="7883152" y="2807818"/>
                  <a:ext cx="372533" cy="3277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oMath>
                    </m:oMathPara>
                  </a14:m>
                  <a:endParaRPr lang="en-TW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4ACADB0-144D-98A1-D897-F1BD379AD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3152" y="2807818"/>
                  <a:ext cx="372533" cy="32771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TW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530CE1-3502-F7D0-91BF-1B112A857D80}"/>
                  </a:ext>
                </a:extLst>
              </p:cNvPr>
              <p:cNvSpPr txBox="1"/>
              <p:nvPr/>
            </p:nvSpPr>
            <p:spPr>
              <a:xfrm>
                <a:off x="428531" y="1981422"/>
                <a:ext cx="8286937" cy="2737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𝐩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)||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TW" sz="1800" dirty="0"/>
              </a:p>
              <a:p>
                <a:endParaRPr lang="en-TW" sz="1800" dirty="0"/>
              </a:p>
              <a:p>
                <a:endParaRPr lang="en-TW" sz="1800" dirty="0"/>
              </a:p>
              <a:p>
                <a:endParaRPr lang="en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TW" dirty="0"/>
                  <a:t>: </a:t>
                </a:r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2D observation (pixel)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3D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camera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The projection function that maps the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3D 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into the 2D pixel location predicted by</a:t>
                </a:r>
              </a:p>
              <a:p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2530CE1-3502-F7D0-91BF-1B112A857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31" y="1981422"/>
                <a:ext cx="8286937" cy="2737481"/>
              </a:xfrm>
              <a:prstGeom prst="rect">
                <a:avLst/>
              </a:prstGeom>
              <a:blipFill>
                <a:blip r:embed="rId13"/>
                <a:stretch>
                  <a:fillRect l="-5352" t="-26389" b="-3241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672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B9C70129-2E44-137E-5994-388D2A8D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577ED1A-42AD-C28C-7B5B-7B1E7B8DC9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COLMAP: Bundle Adjustment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35;p20">
            <a:extLst>
              <a:ext uri="{FF2B5EF4-FFF2-40B4-BE49-F238E27FC236}">
                <a16:creationId xmlns:a16="http://schemas.microsoft.com/office/drawing/2014/main" id="{F4423E16-10CB-3A9F-9217-989804B1A3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Least squares approach to jointly estimate camera poses and 3D points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Minimize “reprojection error”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BA818D-022A-6698-B5C4-F1365B78F0EB}"/>
                  </a:ext>
                </a:extLst>
              </p:cNvPr>
              <p:cNvSpPr txBox="1"/>
              <p:nvPr/>
            </p:nvSpPr>
            <p:spPr>
              <a:xfrm>
                <a:off x="428531" y="1981422"/>
                <a:ext cx="8286937" cy="2978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sz="1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8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||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ij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𝐩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)||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TW" sz="1800" dirty="0"/>
              </a:p>
              <a:p>
                <a:endParaRPr lang="en-TW" sz="1800" dirty="0"/>
              </a:p>
              <a:p>
                <a:r>
                  <a:rPr lang="en-TW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Residual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TW" sz="1800" dirty="0"/>
              </a:p>
              <a:p>
                <a:endParaRPr lang="en-TW" sz="1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TW" dirty="0"/>
                  <a:t>: </a:t>
                </a:r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2D observation (pixel)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of 3D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camera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The projection function that maps the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3D </a:t>
                </a:r>
              </a:p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into the 2D pixel location predicted by</a:t>
                </a:r>
              </a:p>
              <a:p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(∙)</m:t>
                    </m:r>
                  </m:oMath>
                </a14:m>
                <a:r>
                  <a:rPr lang="en-TW" dirty="0">
                    <a:latin typeface="Calibri" panose="020F0502020204030204" pitchFamily="34" charset="0"/>
                    <a:cs typeface="Calibri" panose="020F0502020204030204" pitchFamily="34" charset="0"/>
                  </a:rPr>
                  <a:t> : </a:t>
                </a:r>
                <a:r>
                  <a:rPr lang="en-TW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Robust kernel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BA818D-022A-6698-B5C4-F1365B78F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31" y="1981422"/>
                <a:ext cx="8286937" cy="2978636"/>
              </a:xfrm>
              <a:prstGeom prst="rect">
                <a:avLst/>
              </a:prstGeom>
              <a:blipFill>
                <a:blip r:embed="rId3"/>
                <a:stretch>
                  <a:fillRect l="-5352" t="-24255" b="-2979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82D4C3D7-E460-489D-7479-827090075D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8831" y="1606530"/>
            <a:ext cx="4285252" cy="342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202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BF6AE8C-CCD9-EBC8-435A-1127BCB0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0879C023-7FA8-6056-DCC0-E8401E973CF8}"/>
              </a:ext>
            </a:extLst>
          </p:cNvPr>
          <p:cNvSpPr/>
          <p:nvPr/>
        </p:nvSpPr>
        <p:spPr>
          <a:xfrm flipH="1">
            <a:off x="3122625" y="1017725"/>
            <a:ext cx="5783700" cy="3666300"/>
          </a:xfrm>
          <a:prstGeom prst="round1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AB750532-1ABB-6530-A090-E4BA08AD5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66DCE6FB-CD3D-167B-0CFC-17E84F74453F}"/>
              </a:ext>
            </a:extLst>
          </p:cNvPr>
          <p:cNvSpPr/>
          <p:nvPr/>
        </p:nvSpPr>
        <p:spPr>
          <a:xfrm>
            <a:off x="392775" y="1839388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2FBB73DA-414C-219C-00CD-8D6BE9A22913}"/>
              </a:ext>
            </a:extLst>
          </p:cNvPr>
          <p:cNvSpPr/>
          <p:nvPr/>
        </p:nvSpPr>
        <p:spPr>
          <a:xfrm>
            <a:off x="3261150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7700AED-4D63-1E06-C5F6-52D8BC385D97}"/>
              </a:ext>
            </a:extLst>
          </p:cNvPr>
          <p:cNvSpPr/>
          <p:nvPr/>
        </p:nvSpPr>
        <p:spPr>
          <a:xfrm>
            <a:off x="6129525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5EFA81A-F49B-1365-D0EF-A69C494D2059}"/>
              </a:ext>
            </a:extLst>
          </p:cNvPr>
          <p:cNvSpPr txBox="1"/>
          <p:nvPr/>
        </p:nvSpPr>
        <p:spPr>
          <a:xfrm>
            <a:off x="530175" y="1266737"/>
            <a:ext cx="2346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9B53344A-7CFE-D038-E5C7-853632A21655}"/>
              </a:ext>
            </a:extLst>
          </p:cNvPr>
          <p:cNvSpPr txBox="1"/>
          <p:nvPr/>
        </p:nvSpPr>
        <p:spPr>
          <a:xfrm>
            <a:off x="3443250" y="1266737"/>
            <a:ext cx="2257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18F2CF84-4DCE-D7B6-98E6-3F93BC747B5E}"/>
              </a:ext>
            </a:extLst>
          </p:cNvPr>
          <p:cNvSpPr txBox="1"/>
          <p:nvPr/>
        </p:nvSpPr>
        <p:spPr>
          <a:xfrm>
            <a:off x="6400275" y="1266737"/>
            <a:ext cx="2080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6A82BF44-7FF5-6304-6CA9-34796276467C}"/>
              </a:ext>
            </a:extLst>
          </p:cNvPr>
          <p:cNvSpPr txBox="1"/>
          <p:nvPr/>
        </p:nvSpPr>
        <p:spPr>
          <a:xfrm>
            <a:off x="7158525" y="624725"/>
            <a:ext cx="1747800" cy="494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D4DAA360-3CAF-90D8-0F72-F07A6AFE53AA}"/>
              </a:ext>
            </a:extLst>
          </p:cNvPr>
          <p:cNvSpPr txBox="1"/>
          <p:nvPr/>
        </p:nvSpPr>
        <p:spPr>
          <a:xfrm>
            <a:off x="598875" y="2488150"/>
            <a:ext cx="2209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9F858A03-5E23-E513-FD3E-2B25723127BC}"/>
              </a:ext>
            </a:extLst>
          </p:cNvPr>
          <p:cNvSpPr txBox="1"/>
          <p:nvPr/>
        </p:nvSpPr>
        <p:spPr>
          <a:xfrm>
            <a:off x="3312600" y="2044000"/>
            <a:ext cx="2518800" cy="2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Global Alignment: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DUSt3R, MASt3R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Coordinate Reconstruction: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ACE0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FlowMap, VGGSfM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808CFF27-48E5-028F-70A0-8DA448229C7F}"/>
              </a:ext>
            </a:extLst>
          </p:cNvPr>
          <p:cNvSpPr txBox="1"/>
          <p:nvPr/>
        </p:nvSpPr>
        <p:spPr>
          <a:xfrm>
            <a:off x="6180975" y="2372200"/>
            <a:ext cx="25188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r>
              <a:rPr lang="zh-TW" sz="16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-based</a:t>
            </a: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DUSt3R-based: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Cut3R, Fast3R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95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DUSt3R (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93" y="2801541"/>
            <a:ext cx="8951414" cy="18969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EB19C5-F530-18A9-038A-91FA33B599CD}"/>
              </a:ext>
            </a:extLst>
          </p:cNvPr>
          <p:cNvSpPr txBox="1"/>
          <p:nvPr/>
        </p:nvSpPr>
        <p:spPr>
          <a:xfrm>
            <a:off x="3595081" y="4862847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/pdf/2406.09756</a:t>
            </a:r>
          </a:p>
        </p:txBody>
      </p:sp>
      <p:sp>
        <p:nvSpPr>
          <p:cNvPr id="6" name="Google Shape;135;p20">
            <a:extLst>
              <a:ext uri="{FF2B5EF4-FFF2-40B4-BE49-F238E27FC236}">
                <a16:creationId xmlns:a16="http://schemas.microsoft.com/office/drawing/2014/main" id="{4EBFB654-55C0-63C0-1E28-911627D14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CroCo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pre-trained encoder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Input: “Two” images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Pointmap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Confidence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Local features</a:t>
            </a:r>
          </a:p>
          <a:p>
            <a:pPr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 Matching in 3D</a:t>
            </a:r>
          </a:p>
          <a:p>
            <a:pPr marL="114300" lvl="0" indent="0">
              <a:buClr>
                <a:srgbClr val="212529"/>
              </a:buClr>
              <a:buNone/>
            </a:pP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C7892A-6EF1-5D07-BFAF-42058BE2E6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0150" y="179288"/>
            <a:ext cx="4947557" cy="1771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90B27E-012A-4CCC-33BD-EDA0EA1E4445}"/>
              </a:ext>
            </a:extLst>
          </p:cNvPr>
          <p:cNvSpPr txBox="1"/>
          <p:nvPr/>
        </p:nvSpPr>
        <p:spPr>
          <a:xfrm>
            <a:off x="7093869" y="1970242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/pdf/2210.10716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41482B6-E0C4-F57A-C066-4678B9E8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DF18497F-D5C2-1F3B-DCD4-833412C57E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DUSt3R (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DD4BABBB-6EC7-D920-CE3B-AF8A61F7A2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93" y="2936291"/>
            <a:ext cx="8951414" cy="189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45642C58-30DA-9F63-0AD2-A69B97DCEDC3}"/>
              </a:ext>
            </a:extLst>
          </p:cNvPr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" y="2055416"/>
            <a:ext cx="4790077" cy="7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CD3C19-121C-A2B4-C38A-295DDAB9F7DA}"/>
              </a:ext>
            </a:extLst>
          </p:cNvPr>
          <p:cNvSpPr txBox="1"/>
          <p:nvPr/>
        </p:nvSpPr>
        <p:spPr>
          <a:xfrm>
            <a:off x="3595081" y="4862847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/pdf/2406.09756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FE8FC1-ACC7-A117-211D-903FB35DA5E8}"/>
                  </a:ext>
                </a:extLst>
              </p:cNvPr>
              <p:cNvSpPr txBox="1"/>
              <p:nvPr/>
            </p:nvSpPr>
            <p:spPr>
              <a:xfrm>
                <a:off x="5849540" y="870355"/>
                <a:ext cx="2982760" cy="134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Image pair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Rigid Transform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Pointmap (local coordinate)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TW" sz="16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Pointmap (world coordinate)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Scaling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3FE8FC1-ACC7-A117-211D-903FB35DA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540" y="870355"/>
                <a:ext cx="2982760" cy="1341008"/>
              </a:xfrm>
              <a:prstGeom prst="rect">
                <a:avLst/>
              </a:prstGeom>
              <a:blipFill>
                <a:blip r:embed="rId5"/>
                <a:stretch>
                  <a:fillRect t="-935" b="-467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35;p20">
                <a:extLst>
                  <a:ext uri="{FF2B5EF4-FFF2-40B4-BE49-F238E27FC236}">
                    <a16:creationId xmlns:a16="http://schemas.microsoft.com/office/drawing/2014/main" id="{C8722CE4-9D60-963F-F586-09830C8907F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546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14300" lvl="0" indent="0">
                  <a:buClr>
                    <a:srgbClr val="212529"/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Given a set of images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…,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N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marL="114300" lvl="0" indent="0">
                  <a:buClr>
                    <a:srgbClr val="212529"/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=&gt; Construct a connectivity graph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𝒢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𝒱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ℰ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highlight>
                    <a:srgbClr val="FFFFFF"/>
                  </a:highlight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Google Shape;135;p20">
                <a:extLst>
                  <a:ext uri="{FF2B5EF4-FFF2-40B4-BE49-F238E27FC236}">
                    <a16:creationId xmlns:a16="http://schemas.microsoft.com/office/drawing/2014/main" id="{C8722CE4-9D60-963F-F586-09830C8907F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54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060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44F9A37-5095-2147-85F5-660D339F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69286115-076D-8436-1F4F-C6FB1BF61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DUSt3R (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9" name="Google Shape;89;p16">
            <a:extLst>
              <a:ext uri="{FF2B5EF4-FFF2-40B4-BE49-F238E27FC236}">
                <a16:creationId xmlns:a16="http://schemas.microsoft.com/office/drawing/2014/main" id="{804DBCC3-D485-BE34-B6B7-7604373104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93" y="2936291"/>
            <a:ext cx="8951414" cy="1896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>
            <a:extLst>
              <a:ext uri="{FF2B5EF4-FFF2-40B4-BE49-F238E27FC236}">
                <a16:creationId xmlns:a16="http://schemas.microsoft.com/office/drawing/2014/main" id="{B3FE5B70-96E4-B6D5-E8E0-4140994899EC}"/>
              </a:ext>
            </a:extLst>
          </p:cNvPr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43" y="2055416"/>
            <a:ext cx="4790077" cy="74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2346AE-E262-25E6-3E40-F348BC9CC9B7}"/>
              </a:ext>
            </a:extLst>
          </p:cNvPr>
          <p:cNvSpPr txBox="1"/>
          <p:nvPr/>
        </p:nvSpPr>
        <p:spPr>
          <a:xfrm>
            <a:off x="3595081" y="4862847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/pdf/2406.09756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3035A7-AC96-E725-5F50-FDA3E11A287B}"/>
                  </a:ext>
                </a:extLst>
              </p:cNvPr>
              <p:cNvSpPr txBox="1"/>
              <p:nvPr/>
            </p:nvSpPr>
            <p:spPr>
              <a:xfrm>
                <a:off x="5849540" y="870355"/>
                <a:ext cx="2982760" cy="134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Image pair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Rigid Transform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Pointmap (local coordinate)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TW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TW" sz="16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Pointmap (world coordinate)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TW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Scaling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03035A7-AC96-E725-5F50-FDA3E11A2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540" y="870355"/>
                <a:ext cx="2982760" cy="1341008"/>
              </a:xfrm>
              <a:prstGeom prst="rect">
                <a:avLst/>
              </a:prstGeom>
              <a:blipFill>
                <a:blip r:embed="rId5"/>
                <a:stretch>
                  <a:fillRect t="-935" b="-4673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135;p20">
                <a:extLst>
                  <a:ext uri="{FF2B5EF4-FFF2-40B4-BE49-F238E27FC236}">
                    <a16:creationId xmlns:a16="http://schemas.microsoft.com/office/drawing/2014/main" id="{554345FF-3D3A-9661-B45E-3546D8F9950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5460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14300" lvl="0" indent="0">
                  <a:buClr>
                    <a:srgbClr val="212529"/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Given a set of images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 …,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I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chemeClr val="tx1"/>
                            </a:solidFill>
                            <a:highlight>
                              <a:srgbClr val="FFFFFF"/>
                            </a:highlight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N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highlight>
                      <a:srgbClr val="FFFFFF"/>
                    </a:highlight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 marL="114300" lvl="0" indent="0">
                  <a:buClr>
                    <a:srgbClr val="212529"/>
                  </a:buClr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=&gt; Construct a connectivity graph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𝒢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𝒱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ℰ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highlight>
                    <a:srgbClr val="FFFFFF"/>
                  </a:highlight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Google Shape;135;p20">
                <a:extLst>
                  <a:ext uri="{FF2B5EF4-FFF2-40B4-BE49-F238E27FC236}">
                    <a16:creationId xmlns:a16="http://schemas.microsoft.com/office/drawing/2014/main" id="{554345FF-3D3A-9661-B45E-3546D8F9950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54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39553AA-8467-2DE0-C6EE-6A6687D0AA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95474" y="445025"/>
            <a:ext cx="3539986" cy="235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5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8A6B3E98-1A40-AC5D-73A7-9658FFE9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EC8486F-705A-3547-915B-4B83BD9F9434}"/>
              </a:ext>
            </a:extLst>
          </p:cNvPr>
          <p:cNvSpPr/>
          <p:nvPr/>
        </p:nvSpPr>
        <p:spPr>
          <a:xfrm flipH="1">
            <a:off x="3122625" y="1017725"/>
            <a:ext cx="5783700" cy="3666300"/>
          </a:xfrm>
          <a:prstGeom prst="round1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FA513522-C1FF-CCB8-A8B0-914EC09A7B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E3EB3DE4-D8B7-1958-55DF-3D23882A9C09}"/>
              </a:ext>
            </a:extLst>
          </p:cNvPr>
          <p:cNvSpPr/>
          <p:nvPr/>
        </p:nvSpPr>
        <p:spPr>
          <a:xfrm>
            <a:off x="392775" y="1839388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B17DE8E9-D01C-7AFA-AABF-24314A516254}"/>
              </a:ext>
            </a:extLst>
          </p:cNvPr>
          <p:cNvSpPr/>
          <p:nvPr/>
        </p:nvSpPr>
        <p:spPr>
          <a:xfrm>
            <a:off x="3261150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6ED747A-2B07-57C8-7F0C-56948EFCF2DE}"/>
              </a:ext>
            </a:extLst>
          </p:cNvPr>
          <p:cNvSpPr/>
          <p:nvPr/>
        </p:nvSpPr>
        <p:spPr>
          <a:xfrm>
            <a:off x="6129525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269F4B2-C79E-ECEE-0B3D-0796DAA3F546}"/>
              </a:ext>
            </a:extLst>
          </p:cNvPr>
          <p:cNvSpPr txBox="1"/>
          <p:nvPr/>
        </p:nvSpPr>
        <p:spPr>
          <a:xfrm>
            <a:off x="530175" y="1266737"/>
            <a:ext cx="2346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60C88963-3A88-649F-FB28-9C369F8F662C}"/>
              </a:ext>
            </a:extLst>
          </p:cNvPr>
          <p:cNvSpPr txBox="1"/>
          <p:nvPr/>
        </p:nvSpPr>
        <p:spPr>
          <a:xfrm>
            <a:off x="3443250" y="1266737"/>
            <a:ext cx="2257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05F0A8FF-B0C5-A1F0-22CF-093A5C34DF9F}"/>
              </a:ext>
            </a:extLst>
          </p:cNvPr>
          <p:cNvSpPr txBox="1"/>
          <p:nvPr/>
        </p:nvSpPr>
        <p:spPr>
          <a:xfrm>
            <a:off x="6400275" y="1266737"/>
            <a:ext cx="2080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C1D7D1B3-7EE9-9918-9D5D-7DC193425B2A}"/>
              </a:ext>
            </a:extLst>
          </p:cNvPr>
          <p:cNvSpPr txBox="1"/>
          <p:nvPr/>
        </p:nvSpPr>
        <p:spPr>
          <a:xfrm>
            <a:off x="7158525" y="624725"/>
            <a:ext cx="1747800" cy="494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BBB3BE69-C09C-0687-AF63-B5F960E8B978}"/>
              </a:ext>
            </a:extLst>
          </p:cNvPr>
          <p:cNvSpPr txBox="1"/>
          <p:nvPr/>
        </p:nvSpPr>
        <p:spPr>
          <a:xfrm>
            <a:off x="598875" y="2488150"/>
            <a:ext cx="2209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089A9164-43E8-B74C-FA2F-D8D197939034}"/>
              </a:ext>
            </a:extLst>
          </p:cNvPr>
          <p:cNvSpPr txBox="1"/>
          <p:nvPr/>
        </p:nvSpPr>
        <p:spPr>
          <a:xfrm>
            <a:off x="3312600" y="2044000"/>
            <a:ext cx="2518800" cy="2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Global Alignment: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DUSt3R, MASt3R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Coordinate Reconstruction: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ACE0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FlowMap, VGGSfM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563892CB-60CA-C866-65A6-E6578FA7C922}"/>
              </a:ext>
            </a:extLst>
          </p:cNvPr>
          <p:cNvSpPr txBox="1"/>
          <p:nvPr/>
        </p:nvSpPr>
        <p:spPr>
          <a:xfrm>
            <a:off x="6180975" y="2372200"/>
            <a:ext cx="25188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r>
              <a:rPr lang="zh-TW" sz="16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-based</a:t>
            </a: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DUSt3R-based: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Cut3R, Fast3R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570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E89139-127F-092A-318D-DE2B806B1A9D}"/>
              </a:ext>
            </a:extLst>
          </p:cNvPr>
          <p:cNvGrpSpPr/>
          <p:nvPr/>
        </p:nvGrpSpPr>
        <p:grpSpPr>
          <a:xfrm>
            <a:off x="644978" y="2204357"/>
            <a:ext cx="7854043" cy="2939143"/>
            <a:chOff x="1681844" y="2516118"/>
            <a:chExt cx="7429500" cy="2627382"/>
          </a:xfrm>
        </p:grpSpPr>
        <p:pic>
          <p:nvPicPr>
            <p:cNvPr id="12290" name="Picture 2" descr="VGGT: Visual Geometry Grounded Transformer">
              <a:extLst>
                <a:ext uri="{FF2B5EF4-FFF2-40B4-BE49-F238E27FC236}">
                  <a16:creationId xmlns:a16="http://schemas.microsoft.com/office/drawing/2014/main" id="{67B636F6-04A7-460E-018B-9DD34D236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1844" y="2516118"/>
              <a:ext cx="7429500" cy="2587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5E73E37-FEB9-FF34-4519-E00ED30FF513}"/>
                </a:ext>
              </a:extLst>
            </p:cNvPr>
            <p:cNvSpPr txBox="1"/>
            <p:nvPr/>
          </p:nvSpPr>
          <p:spPr>
            <a:xfrm>
              <a:off x="1681844" y="4897279"/>
              <a:ext cx="195383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cs typeface="Calibri" panose="020F0502020204030204" pitchFamily="34" charset="0"/>
                </a:rPr>
                <a:t>https://</a:t>
              </a:r>
              <a:r>
                <a:rPr lang="en-US" sz="10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arxiv.org</a:t>
              </a:r>
              <a:r>
                <a:rPr lang="en-US" sz="1000" dirty="0">
                  <a:latin typeface="Calibri" panose="020F0502020204030204" pitchFamily="34" charset="0"/>
                  <a:cs typeface="Calibri" panose="020F0502020204030204" pitchFamily="34" charset="0"/>
                </a:rPr>
                <a:t>/pdf/2503.11651</a:t>
              </a:r>
            </a:p>
          </p:txBody>
        </p:sp>
      </p:grpSp>
      <p:sp>
        <p:nvSpPr>
          <p:cNvPr id="4" name="Google Shape;135;p20">
            <a:extLst>
              <a:ext uri="{FF2B5EF4-FFF2-40B4-BE49-F238E27FC236}">
                <a16:creationId xmlns:a16="http://schemas.microsoft.com/office/drawing/2014/main" id="{93438D4A-D196-89E6-A632-E92F81E862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Feed-forward method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Input: (Un)ordered Images</a:t>
            </a:r>
          </a:p>
          <a:p>
            <a:pPr lvl="0">
              <a:buClr>
                <a:srgbClr val="212529"/>
              </a:buClr>
              <a:buFontTx/>
              <a:buChar char="-"/>
            </a:pPr>
            <a:r>
              <a:rPr lang="en-US" sz="2000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Camera parameters, point maps, depth maps, and 3D point tracks</a:t>
            </a: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>
              <a:buClr>
                <a:srgbClr val="212529"/>
              </a:buClr>
              <a:buFontTx/>
              <a:buChar char="-"/>
            </a:pPr>
            <a:endParaRPr lang="en-US" sz="2000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5F1BB776-0422-1C46-3FEF-A59DC2A7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78B4AD0D-45D9-7107-7324-2E2C4D5FF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35;p20">
            <a:extLst>
              <a:ext uri="{FF2B5EF4-FFF2-40B4-BE49-F238E27FC236}">
                <a16:creationId xmlns:a16="http://schemas.microsoft.com/office/drawing/2014/main" id="{1BF4FE9C-0D30-5A22-2521-94C215C8F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8323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43080">
              <a:buClr>
                <a:srgbClr val="212529"/>
              </a:buClr>
              <a:buFont typeface="OpenSymbol"/>
              <a:buChar char="-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Dense prediction transformer (DPT)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3080">
              <a:buClr>
                <a:srgbClr val="212529"/>
              </a:buClr>
              <a:buFont typeface="OpenSymbol"/>
              <a:buChar char="-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Embed: Flattening non-overlapping patches + linear projection (same as </a:t>
            </a:r>
            <a:r>
              <a:rPr lang="en-US" sz="2000" dirty="0" err="1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ViT</a:t>
            </a: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)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pic>
        <p:nvPicPr>
          <p:cNvPr id="2" name="Picture 2" descr="Apple: DEPTH PRO: ShARP Monocular METric DEPTH IN LESS THAN A SECOND | by  heping_LU | Medium">
            <a:extLst>
              <a:ext uri="{FF2B5EF4-FFF2-40B4-BE49-F238E27FC236}">
                <a16:creationId xmlns:a16="http://schemas.microsoft.com/office/drawing/2014/main" id="{65CF4E69-7777-71AB-76F5-D8435A51B45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2205360"/>
            <a:ext cx="9143640" cy="275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D25CE5B7-FF5B-B724-211B-583259B775E5}"/>
              </a:ext>
            </a:extLst>
          </p:cNvPr>
          <p:cNvSpPr/>
          <p:nvPr/>
        </p:nvSpPr>
        <p:spPr>
          <a:xfrm>
            <a:off x="7190280" y="4921560"/>
            <a:ext cx="195336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https://arxiv.org/pdf/2103.13413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824A917-8326-0D58-5CDC-08A7BB0CD3A1}"/>
              </a:ext>
            </a:extLst>
          </p:cNvPr>
          <p:cNvSpPr/>
          <p:nvPr/>
        </p:nvSpPr>
        <p:spPr>
          <a:xfrm>
            <a:off x="465480" y="2982600"/>
            <a:ext cx="1132200" cy="73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TW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Different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TW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Transformer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TW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Stages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4730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2F014286-1493-3136-63CF-3F79DC9E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BF6FF719-D710-8030-C3E9-95D7AEA857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VGGT: </a:t>
            </a:r>
            <a:r>
              <a:rPr lang="en-US" dirty="0">
                <a:latin typeface="Calibri"/>
              </a:rPr>
              <a:t>Alternating-Attention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135;p20">
            <a:extLst>
              <a:ext uri="{FF2B5EF4-FFF2-40B4-BE49-F238E27FC236}">
                <a16:creationId xmlns:a16="http://schemas.microsoft.com/office/drawing/2014/main" id="{004EC3E3-9C6D-65A6-3C9C-EEFB6B02E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832300" cy="3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0">
              <a:buNone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3080">
              <a:buClr>
                <a:srgbClr val="212529"/>
              </a:buClr>
              <a:buFont typeface="OpenSymbol"/>
              <a:buChar char="-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Global attention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 indent="-317520">
              <a:buClr>
                <a:srgbClr val="212529"/>
              </a:buClr>
              <a:buFont typeface="OpenSymbol"/>
              <a:buChar char="-"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Ensures scene-level coherence</a:t>
            </a:r>
            <a:br>
              <a:rPr lang="en-US" sz="1600" dirty="0">
                <a:highlight>
                  <a:srgbClr val="FFFFFF"/>
                </a:highlight>
              </a:rPr>
            </a:br>
            <a:br>
              <a:rPr lang="en-US" sz="1600" dirty="0">
                <a:highlight>
                  <a:srgbClr val="FFFFFF"/>
                </a:highlight>
              </a:rPr>
            </a:br>
            <a:r>
              <a:rPr lang="en-US" sz="16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 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3080">
              <a:buClr>
                <a:srgbClr val="212529"/>
              </a:buClr>
              <a:buFont typeface="OpenSymbol"/>
              <a:buChar char="-"/>
            </a:pPr>
            <a:r>
              <a:rPr lang="en-US" sz="20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Frame-wise attention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1" indent="-317520">
              <a:buClr>
                <a:srgbClr val="212529"/>
              </a:buClr>
              <a:buFont typeface="OpenSymbol"/>
              <a:buChar char="-"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Eliminates </a:t>
            </a:r>
            <a:r>
              <a:rPr lang="en-US" sz="1800" b="1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frame index embedding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2" indent="-317520">
              <a:buClr>
                <a:srgbClr val="212529"/>
              </a:buClr>
              <a:buFont typeface="OpenSymbol"/>
              <a:buChar char="-"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For permutation equivariance (input -&gt; output)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lvl="2" indent="-317520">
              <a:buClr>
                <a:srgbClr val="212529"/>
              </a:buClr>
              <a:buFont typeface="OpenSymbol"/>
              <a:buChar char="-"/>
            </a:pPr>
            <a:r>
              <a:rPr lang="en-US" sz="1800" dirty="0">
                <a:solidFill>
                  <a:schemeClr val="dk1"/>
                </a:solidFill>
                <a:highlight>
                  <a:srgbClr val="FFFFFF"/>
                </a:highlight>
                <a:latin typeface="Calibri"/>
              </a:rPr>
              <a:t>For flexible input length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43080">
              <a:buClr>
                <a:srgbClr val="212529"/>
              </a:buClr>
              <a:buFont typeface="OpenSymbol"/>
              <a:buChar char="-"/>
            </a:pPr>
            <a:endParaRPr 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E4FADA0-084B-4741-08C1-05CC6C5F2292}"/>
              </a:ext>
            </a:extLst>
          </p:cNvPr>
          <p:cNvSpPr/>
          <p:nvPr/>
        </p:nvSpPr>
        <p:spPr>
          <a:xfrm>
            <a:off x="1614600" y="4897440"/>
            <a:ext cx="591408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https://docs.google.com/presentation/d/1JVuPnuZx6RgAy-U5Ezobg73XpBi7FrOh/edit?slide=id.p9#slide=id.p9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E121C12C-E39E-7161-B936-275C102805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908040" y="1095120"/>
            <a:ext cx="2015640" cy="33908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294135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9260A59A-3881-8600-5CC8-083DE906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C681A61E-7B72-B662-6172-82B2814952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VGGT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C3EED1A-B57B-C510-4327-3CB54CC4A32A}"/>
              </a:ext>
            </a:extLst>
          </p:cNvPr>
          <p:cNvGrpSpPr/>
          <p:nvPr/>
        </p:nvGrpSpPr>
        <p:grpSpPr>
          <a:xfrm>
            <a:off x="1371600" y="311214"/>
            <a:ext cx="7772400" cy="4717986"/>
            <a:chOff x="1371600" y="425514"/>
            <a:chExt cx="7772400" cy="471798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88355A9-5F1B-2FE8-AD74-0B53416CA265}"/>
                </a:ext>
              </a:extLst>
            </p:cNvPr>
            <p:cNvGrpSpPr/>
            <p:nvPr/>
          </p:nvGrpSpPr>
          <p:grpSpPr>
            <a:xfrm>
              <a:off x="1371600" y="680181"/>
              <a:ext cx="7772400" cy="4463319"/>
              <a:chOff x="108164" y="1017725"/>
              <a:chExt cx="7772400" cy="446331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2889DBF-0462-B01E-BE59-0C3AC4D368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8164" y="1017725"/>
                <a:ext cx="7772400" cy="2555126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09EB41E-919D-BFC1-8C6B-64F23A731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8164" y="3572851"/>
                <a:ext cx="7772400" cy="1908193"/>
              </a:xfrm>
              <a:prstGeom prst="rect">
                <a:avLst/>
              </a:prstGeom>
            </p:spPr>
          </p:pic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891B07-3FE4-1A71-94EB-B4360F002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61407" y="425514"/>
              <a:ext cx="7176407" cy="254667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690F929-30A2-0505-7AE7-1AC7E4F69A07}"/>
              </a:ext>
            </a:extLst>
          </p:cNvPr>
          <p:cNvSpPr txBox="1"/>
          <p:nvPr/>
        </p:nvSpPr>
        <p:spPr>
          <a:xfrm>
            <a:off x="7256593" y="4930581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/pdf/2503.11651</a:t>
            </a:r>
          </a:p>
        </p:txBody>
      </p:sp>
    </p:spTree>
    <p:extLst>
      <p:ext uri="{BB962C8B-B14F-4D97-AF65-F5344CB8AC3E}">
        <p14:creationId xmlns:p14="http://schemas.microsoft.com/office/powerpoint/2010/main" val="3140840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>
          <a:extLst>
            <a:ext uri="{FF2B5EF4-FFF2-40B4-BE49-F238E27FC236}">
              <a16:creationId xmlns:a16="http://schemas.microsoft.com/office/drawing/2014/main" id="{B9A6C656-BA6D-B4AD-769D-0E25C585D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FD2C1133-88EC-2BF8-C977-895A09C6A365}"/>
              </a:ext>
            </a:extLst>
          </p:cNvPr>
          <p:cNvSpPr/>
          <p:nvPr/>
        </p:nvSpPr>
        <p:spPr>
          <a:xfrm flipH="1">
            <a:off x="3122625" y="1017725"/>
            <a:ext cx="5783700" cy="3666300"/>
          </a:xfrm>
          <a:prstGeom prst="round1Rect">
            <a:avLst>
              <a:gd name="adj" fmla="val 16667"/>
            </a:avLst>
          </a:prstGeom>
          <a:solidFill>
            <a:srgbClr val="0737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A35DF423-D40E-1465-C0E7-628965F06E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Methods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96F619B9-F305-9345-8511-47869A7E25B3}"/>
              </a:ext>
            </a:extLst>
          </p:cNvPr>
          <p:cNvSpPr/>
          <p:nvPr/>
        </p:nvSpPr>
        <p:spPr>
          <a:xfrm>
            <a:off x="392775" y="1839388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5F5BE390-024D-4EFF-63A1-1154A92E9C90}"/>
              </a:ext>
            </a:extLst>
          </p:cNvPr>
          <p:cNvSpPr/>
          <p:nvPr/>
        </p:nvSpPr>
        <p:spPr>
          <a:xfrm>
            <a:off x="3261150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7C5DBA8-DD26-1248-2F77-57BADFF6195A}"/>
              </a:ext>
            </a:extLst>
          </p:cNvPr>
          <p:cNvSpPr/>
          <p:nvPr/>
        </p:nvSpPr>
        <p:spPr>
          <a:xfrm>
            <a:off x="6129525" y="1839500"/>
            <a:ext cx="2621700" cy="273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3633CD1-C67C-8667-8159-2125637268B4}"/>
              </a:ext>
            </a:extLst>
          </p:cNvPr>
          <p:cNvSpPr txBox="1"/>
          <p:nvPr/>
        </p:nvSpPr>
        <p:spPr>
          <a:xfrm>
            <a:off x="530175" y="1266737"/>
            <a:ext cx="23469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4434EBA9-AA2B-9E1E-4C6F-C549E17BB5D3}"/>
              </a:ext>
            </a:extLst>
          </p:cNvPr>
          <p:cNvSpPr txBox="1"/>
          <p:nvPr/>
        </p:nvSpPr>
        <p:spPr>
          <a:xfrm>
            <a:off x="3443250" y="1266737"/>
            <a:ext cx="22575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Optimization-based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C922008-19F5-8DD0-F269-1DEB72998F52}"/>
              </a:ext>
            </a:extLst>
          </p:cNvPr>
          <p:cNvSpPr txBox="1"/>
          <p:nvPr/>
        </p:nvSpPr>
        <p:spPr>
          <a:xfrm>
            <a:off x="6400275" y="1266737"/>
            <a:ext cx="20802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72117589-ED16-4D7A-4F49-BA7649D984CC}"/>
              </a:ext>
            </a:extLst>
          </p:cNvPr>
          <p:cNvSpPr txBox="1"/>
          <p:nvPr/>
        </p:nvSpPr>
        <p:spPr>
          <a:xfrm>
            <a:off x="7158525" y="624725"/>
            <a:ext cx="1747800" cy="4947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Google Shape;80;p15">
            <a:extLst>
              <a:ext uri="{FF2B5EF4-FFF2-40B4-BE49-F238E27FC236}">
                <a16:creationId xmlns:a16="http://schemas.microsoft.com/office/drawing/2014/main" id="{70CF93FD-33D4-94A7-6EEF-29888CA3C345}"/>
              </a:ext>
            </a:extLst>
          </p:cNvPr>
          <p:cNvSpPr txBox="1"/>
          <p:nvPr/>
        </p:nvSpPr>
        <p:spPr>
          <a:xfrm>
            <a:off x="598875" y="2488150"/>
            <a:ext cx="22095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Incremental: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GLOMAP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Google Shape;81;p15">
            <a:extLst>
              <a:ext uri="{FF2B5EF4-FFF2-40B4-BE49-F238E27FC236}">
                <a16:creationId xmlns:a16="http://schemas.microsoft.com/office/drawing/2014/main" id="{7E9C334E-08AB-F34D-CC88-5A74C1A0D434}"/>
              </a:ext>
            </a:extLst>
          </p:cNvPr>
          <p:cNvSpPr txBox="1"/>
          <p:nvPr/>
        </p:nvSpPr>
        <p:spPr>
          <a:xfrm>
            <a:off x="3312600" y="2044000"/>
            <a:ext cx="2518800" cy="23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Global Alignment: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DUSt3R, MASt3R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Scene Coordinate Reconstruction: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ACE0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Others: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FlowMap, VGGSfM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1D6D6148-8C84-8C71-5235-B5FF3AEA2FBE}"/>
              </a:ext>
            </a:extLst>
          </p:cNvPr>
          <p:cNvSpPr txBox="1"/>
          <p:nvPr/>
        </p:nvSpPr>
        <p:spPr>
          <a:xfrm>
            <a:off x="6180975" y="2372200"/>
            <a:ext cx="2518800" cy="16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VGGT-based</a:t>
            </a: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DUSt3R-based: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Cut3R, Fast3R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299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Feed-forward 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11700" y="1621975"/>
            <a:ext cx="4106636" cy="30765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Char char="-"/>
            </a:pP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Speed (cf. Bundle</a:t>
            </a:r>
            <a:r>
              <a:rPr lang="en-US" alt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Adjustment, </a:t>
            </a:r>
            <a:r>
              <a:rPr lang="en-US" alt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Alignment</a:t>
            </a: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TW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Char char="-"/>
            </a:pPr>
            <a:endParaRPr lang="en-US" altLang="zh-TW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Char char="-"/>
            </a:pP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Learned priors from data</a:t>
            </a:r>
            <a:b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zh-TW"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Tx/>
              <a:buChar char="-"/>
            </a:pP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Reduced error</a:t>
            </a:r>
            <a:r>
              <a:rPr lang="en-US" alt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2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accumulation</a:t>
            </a:r>
            <a:endParaRPr sz="200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727127" y="1160787"/>
            <a:ext cx="1275782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Strengths</a:t>
            </a:r>
            <a:endParaRPr sz="2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656460" y="1621975"/>
            <a:ext cx="4106635" cy="30765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Generalization</a:t>
            </a:r>
            <a:endParaRPr lang="en-US" altLang="zh-TW"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00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Tx/>
              <a:buChar char="-"/>
            </a:pPr>
            <a:r>
              <a:rPr lang="en-US" altLang="zh-TW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Accuracy</a:t>
            </a:r>
            <a:endParaRPr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903034" y="1160787"/>
            <a:ext cx="1613486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Weaknesses</a:t>
            </a:r>
            <a:endParaRPr sz="2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Current Problems &amp; Perspectives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40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●"/>
            </a:pPr>
            <a:r>
              <a:rPr lang="zh-TW" sz="24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Scalability (OOM)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Fast3R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●"/>
            </a:pPr>
            <a:r>
              <a:rPr lang="zh-TW" sz="24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Large-scale 3D Reconstruction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SAIL-Recon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●"/>
            </a:pPr>
            <a:r>
              <a:rPr lang="zh-TW" sz="24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Online 3D Reconstruction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Cut3R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●"/>
            </a:pPr>
            <a:r>
              <a:rPr lang="zh-TW" sz="22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Scalability (OOM) 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7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Fast3R</a:t>
            </a:r>
            <a:endParaRPr sz="1700" dirty="0">
              <a:solidFill>
                <a:srgbClr val="FF0000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659" y="819779"/>
            <a:ext cx="5673641" cy="116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133350" y="2628900"/>
            <a:ext cx="8925000" cy="2000100"/>
          </a:xfrm>
          <a:prstGeom prst="roundRect">
            <a:avLst>
              <a:gd name="adj" fmla="val 16667"/>
            </a:avLst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6A3B1-B40F-1004-322F-7F147692C3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989" y="2261065"/>
            <a:ext cx="7356022" cy="2735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EFD2CA-3D67-517B-392F-DD9235E016BE}"/>
              </a:ext>
            </a:extLst>
          </p:cNvPr>
          <p:cNvSpPr txBox="1"/>
          <p:nvPr/>
        </p:nvSpPr>
        <p:spPr>
          <a:xfrm>
            <a:off x="2492902" y="4830201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/pdf/2501.13928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US" altLang="zh-TW" sz="2000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TW" dirty="0">
                <a:solidFill>
                  <a:schemeClr val="dk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DUSt3R 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leads to OOM with only 48 views on an A100 GPU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DUSt3R computes O(N</a:t>
            </a:r>
            <a:r>
              <a:rPr lang="zh-TW" baseline="30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pairs of pointmaps and performs a global alignment optimization procedure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DUSt3R suffers from the same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pair-wise bottleneck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as traditional SfM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125" y="1419075"/>
            <a:ext cx="6469827" cy="364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150125" y="1054475"/>
            <a:ext cx="4038154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Inputs: Unordered, unposed, RGB images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4188279" y="1053811"/>
            <a:ext cx="2352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→ (</a:t>
            </a: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1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Σ</a:t>
            </a:r>
            <a:r>
              <a:rPr lang="zh-TW" sz="1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1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Σ</a:t>
            </a:r>
            <a:r>
              <a:rPr lang="zh-TW" sz="18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6739915" y="1053811"/>
            <a:ext cx="2341269" cy="2676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Global Pointmap </a:t>
            </a:r>
            <a:r>
              <a:rPr lang="zh-TW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20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In the coordinate 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frame of the 1st 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camera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Pointmap </a:t>
            </a:r>
            <a:r>
              <a:rPr lang="zh-TW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20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In the coordinate 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frame of the viewing 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camera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2" name="Google Shape;162;p23"/>
          <p:cNvSpPr txBox="1"/>
          <p:nvPr/>
        </p:nvSpPr>
        <p:spPr>
          <a:xfrm>
            <a:off x="2129875" y="1333000"/>
            <a:ext cx="669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1">
                <a:solidFill>
                  <a:srgbClr val="385723"/>
                </a:solidFill>
              </a:rPr>
              <a:t>Feature Patches</a:t>
            </a:r>
            <a:endParaRPr sz="900" b="1">
              <a:solidFill>
                <a:srgbClr val="385723"/>
              </a:solidFill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5430495" y="4703207"/>
            <a:ext cx="669600" cy="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00" b="1">
                <a:solidFill>
                  <a:srgbClr val="1F4E79"/>
                </a:solidFill>
              </a:rPr>
              <a:t>(DPT)</a:t>
            </a:r>
            <a:endParaRPr sz="900" b="1">
              <a:solidFill>
                <a:srgbClr val="1F4E79"/>
              </a:solidFill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2633945" y="4273983"/>
            <a:ext cx="10251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 b="1">
                <a:solidFill>
                  <a:srgbClr val="843C0C"/>
                </a:solidFill>
              </a:rPr>
              <a:t>all-to-all </a:t>
            </a:r>
            <a:br>
              <a:rPr lang="zh-TW" sz="700" b="1">
                <a:solidFill>
                  <a:srgbClr val="843C0C"/>
                </a:solidFill>
              </a:rPr>
            </a:br>
            <a:r>
              <a:rPr lang="zh-TW" sz="700" b="1">
                <a:solidFill>
                  <a:srgbClr val="843C0C"/>
                </a:solidFill>
              </a:rPr>
              <a:t>self-attention</a:t>
            </a:r>
            <a:endParaRPr sz="700" b="1">
              <a:solidFill>
                <a:srgbClr val="843C0C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6739915" y="3839733"/>
            <a:ext cx="2341269" cy="8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Align </a:t>
            </a:r>
            <a:r>
              <a:rPr lang="zh-TW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17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zh-TW" sz="1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17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 </a:t>
            </a: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ICP</a:t>
            </a:r>
            <a:b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=&gt; </a:t>
            </a:r>
            <a:r>
              <a:rPr lang="en-US" alt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ligned local pointmaps</a:t>
            </a:r>
            <a:b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5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=&gt; 3D reconstruction</a:t>
            </a:r>
            <a:endParaRPr sz="15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AD8E8-986D-9C62-C8F0-0B5761617D5A}"/>
              </a:ext>
            </a:extLst>
          </p:cNvPr>
          <p:cNvSpPr txBox="1"/>
          <p:nvPr/>
        </p:nvSpPr>
        <p:spPr>
          <a:xfrm>
            <a:off x="6739915" y="489727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/pdf/2501.13928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>
            <a:spLocks noGrp="1"/>
          </p:cNvSpPr>
          <p:nvPr>
            <p:ph type="body" idx="1"/>
          </p:nvPr>
        </p:nvSpPr>
        <p:spPr>
          <a:xfrm>
            <a:off x="311700" y="1152400"/>
            <a:ext cx="8520600" cy="363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Training Objective: ℒ</a:t>
            </a:r>
            <a:r>
              <a:rPr lang="zh-TW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ℒ</a:t>
            </a:r>
            <a:r>
              <a:rPr lang="zh-TW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XG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+ ℒ</a:t>
            </a:r>
            <a:r>
              <a:rPr lang="zh-TW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XL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; </a:t>
            </a:r>
            <a:r>
              <a:rPr lang="zh-TW" altLang="en-US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Confidence-weighted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versions of the 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normalized 3D pointwise regression loss</a:t>
            </a:r>
            <a:br>
              <a:rPr lang="zh-TW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TW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Fast3R can handle more views at inference than were used to train a model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7186" y="2084212"/>
            <a:ext cx="4010025" cy="6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1921" y="1269746"/>
            <a:ext cx="1628001" cy="30596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/>
          <p:nvPr/>
        </p:nvSpPr>
        <p:spPr>
          <a:xfrm>
            <a:off x="582575" y="3205566"/>
            <a:ext cx="3885600" cy="17712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Naive way: Spherical Harmonic 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Trainging: SH({1, 2, …, N})</a:t>
            </a: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Testing: SH({1, 2, …, N</a:t>
            </a:r>
            <a:r>
              <a:rPr lang="zh-TW" sz="2000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}) 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4572000" y="3205566"/>
            <a:ext cx="3885600" cy="17712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Adoption: Position Interpolation 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- Draw N ⊂ {1, 2, …, N’} indexes   </a:t>
            </a:r>
            <a:b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uniformly at random (N’ ≫ N)</a:t>
            </a:r>
            <a:endParaRPr sz="20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7321162" y="4547575"/>
            <a:ext cx="9744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Masking!</a:t>
            </a:r>
            <a:endParaRPr sz="18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5321802" y="1731060"/>
            <a:ext cx="3510498" cy="89584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Dataset: CO3D, ScanNet++, ARKitScenes, Habitat, </a:t>
            </a:r>
            <a:r>
              <a:rPr lang="zh-TW" sz="1600" dirty="0">
                <a:solidFill>
                  <a:srgbClr val="38761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BlendedMVS</a:t>
            </a: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zh-TW" sz="1600" dirty="0">
                <a:solidFill>
                  <a:srgbClr val="38761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MegaDepth</a:t>
            </a: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(less than DUSt3R)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006602" y="1352525"/>
            <a:ext cx="24237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Inference Efficiency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1370" y="1827125"/>
            <a:ext cx="4154164" cy="2228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/>
        </p:nvSpPr>
        <p:spPr>
          <a:xfrm>
            <a:off x="5713700" y="921827"/>
            <a:ext cx="23094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1600" y="1410572"/>
            <a:ext cx="4477576" cy="14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1600" y="3318630"/>
            <a:ext cx="4477575" cy="142066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7307300" y="3278391"/>
            <a:ext cx="6015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tx1"/>
                </a:solidFill>
                <a:latin typeface="Calibri Light" panose="020F0302020204030204" pitchFamily="34" charset="0"/>
                <a:ea typeface="Times New Roman"/>
                <a:cs typeface="Calibri Light" panose="020F0302020204030204" pitchFamily="34" charset="0"/>
                <a:sym typeface="Times New Roman"/>
              </a:rPr>
              <a:t>DTU</a:t>
            </a:r>
            <a:endParaRPr dirty="0">
              <a:solidFill>
                <a:schemeClr val="tx1"/>
              </a:solidFill>
              <a:latin typeface="Calibri Light" panose="020F0302020204030204" pitchFamily="34" charset="0"/>
              <a:ea typeface="Times New Roman"/>
              <a:cs typeface="Calibri Light" panose="020F0302020204030204" pitchFamily="34" charset="0"/>
              <a:sym typeface="Times New Roman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6345487" y="2755496"/>
            <a:ext cx="889800" cy="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dirty="0">
                <a:solidFill>
                  <a:srgbClr val="212529"/>
                </a:solidFill>
              </a:rPr>
              <a:t>Skip = 20</a:t>
            </a:r>
            <a:endParaRPr sz="1200" dirty="0">
              <a:solidFill>
                <a:srgbClr val="212529"/>
              </a:solidFill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7802963" y="2755496"/>
            <a:ext cx="889800" cy="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dirty="0">
                <a:solidFill>
                  <a:srgbClr val="212529"/>
                </a:solidFill>
              </a:rPr>
              <a:t>Skip = 40</a:t>
            </a:r>
            <a:endParaRPr sz="1200" dirty="0">
              <a:solidFill>
                <a:srgbClr val="21252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C2086C-D52D-2127-F93D-8C5721C940FD}"/>
              </a:ext>
            </a:extLst>
          </p:cNvPr>
          <p:cNvSpPr txBox="1"/>
          <p:nvPr/>
        </p:nvSpPr>
        <p:spPr>
          <a:xfrm>
            <a:off x="3574681" y="489727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/pdf/2501.13928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Fast3R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561450" y="1309767"/>
            <a:ext cx="20211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Pose Estimation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1784367"/>
            <a:ext cx="8839204" cy="25291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F7D132-5AA8-D7EE-C912-397860BD9E58}"/>
              </a:ext>
            </a:extLst>
          </p:cNvPr>
          <p:cNvSpPr txBox="1"/>
          <p:nvPr/>
        </p:nvSpPr>
        <p:spPr>
          <a:xfrm>
            <a:off x="3574681" y="489727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/pdf/2501.13928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SAIL-Recon: Large SfM by Augmenting Scene Regression with Localization">
            <a:extLst>
              <a:ext uri="{FF2B5EF4-FFF2-40B4-BE49-F238E27FC236}">
                <a16:creationId xmlns:a16="http://schemas.microsoft.com/office/drawing/2014/main" id="{89525605-F85C-6599-96C9-2B19F2739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2142" y="1900362"/>
            <a:ext cx="8499716" cy="322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Google Shape;20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22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Large-scale </a:t>
            </a:r>
            <a:r>
              <a:rPr lang="zh-TW" sz="2200" dirty="0">
                <a:solidFill>
                  <a:srgbClr val="212529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7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SAIL-Recon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5510" y="506690"/>
            <a:ext cx="4732840" cy="90361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/>
          <p:nvPr/>
        </p:nvSpPr>
        <p:spPr>
          <a:xfrm>
            <a:off x="6842714" y="449540"/>
            <a:ext cx="1068272" cy="25913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7"/>
          <p:cNvSpPr txBox="1"/>
          <p:nvPr/>
        </p:nvSpPr>
        <p:spPr>
          <a:xfrm>
            <a:off x="6640810" y="105115"/>
            <a:ext cx="147208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 on VGGT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4DE35-8039-8172-6476-805510177070}"/>
              </a:ext>
            </a:extLst>
          </p:cNvPr>
          <p:cNvSpPr txBox="1"/>
          <p:nvPr/>
        </p:nvSpPr>
        <p:spPr>
          <a:xfrm>
            <a:off x="3574681" y="489727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/pdf/2508.17972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2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US" altLang="zh-TW" sz="22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TW" sz="19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1. V</a:t>
            </a:r>
            <a:r>
              <a:rPr lang="zh-TW" sz="19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GGT struggle to handle a large number of input images</a:t>
            </a: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Current large-scale</a:t>
            </a:r>
            <a:r>
              <a:rPr lang="en-US" alt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incremental reconstruction </a:t>
            </a: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methods suffer from pose </a:t>
            </a: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dr</a:t>
            </a:r>
            <a:r>
              <a:rPr lang="en-US" altLang="zh-TW" sz="1900" dirty="0" err="1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ft and are highly dependent on subsequent global alignment (e.g. </a:t>
            </a: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online, divide and conquer methods)</a:t>
            </a: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Existing SCR methods ignore visual localization, a common approach to</a:t>
            </a:r>
            <a:b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scale up an SLAM system</a:t>
            </a: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2450" y="260138"/>
            <a:ext cx="332925" cy="26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26" name="Google Shape;22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311" y="1710399"/>
            <a:ext cx="8849939" cy="329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203323" y="1171486"/>
            <a:ext cx="3764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Inputs: Unordered, unposed, RGB images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2322023" y="1603911"/>
            <a:ext cx="4017502" cy="211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 = 24 layers of frame-wise and global self-attention 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6112584" y="3931089"/>
            <a:ext cx="4605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TW" sz="16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sz="1600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6109275" y="3261941"/>
            <a:ext cx="4605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TW" sz="1600" baseline="-25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sz="1600" baseline="-25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21965" y="599461"/>
            <a:ext cx="3277737" cy="3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6852450" y="139525"/>
            <a:ext cx="2200800" cy="13503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9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Transformer-based</a:t>
            </a:r>
            <a:endParaRPr sz="15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network</a:t>
            </a:r>
            <a:endParaRPr sz="15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: Extrinsic matrices</a:t>
            </a:r>
            <a:endParaRPr sz="15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: Intrinsic matrices</a:t>
            </a:r>
            <a:b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: Query image</a:t>
            </a:r>
            <a:br>
              <a:rPr lang="zh-TW" sz="15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5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7888" y="727063"/>
            <a:ext cx="282038" cy="2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/>
          <p:cNvPicPr preferRelativeResize="0"/>
          <p:nvPr/>
        </p:nvPicPr>
        <p:blipFill>
          <a:blip r:embed="rId7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7900" y="962240"/>
            <a:ext cx="282025" cy="2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>
          <a:blip r:embed="rId8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7900" y="1217818"/>
            <a:ext cx="282025" cy="237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>
          <a:blip r:embed="rId9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9665" y="990111"/>
            <a:ext cx="2738054" cy="2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3" name="Google Shape;243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Neural scene representation serves as an </a:t>
            </a:r>
            <a:r>
              <a:rPr lang="zh-TW" sz="2000" dirty="0">
                <a:solidFill>
                  <a:srgbClr val="FF0000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implicit</a:t>
            </a: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neural map of the scene, without relying on explicit 3D points or meshes</a:t>
            </a: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2000" dirty="0">
              <a:solidFill>
                <a:schemeClr val="dk1"/>
              </a:solidFill>
              <a:highlight>
                <a:schemeClr val="lt1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Most localization methods require per-scene training of the network</a:t>
            </a: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=&gt; SAIL-Recon circumvents this by deriving a latent scene representation through scene regression</a:t>
            </a: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2000" dirty="0">
              <a:solidFill>
                <a:schemeClr val="dk1"/>
              </a:solidFill>
              <a:highlight>
                <a:schemeClr val="lt1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Uniformly sample N ∈ [50, 100] anchor frames         f     from the full set </a:t>
            </a:r>
            <a:b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4" name="Google Shape;244;p30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0741" y="3732083"/>
            <a:ext cx="807875" cy="3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0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0234" y="3737984"/>
            <a:ext cx="807875" cy="3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3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The network      </a:t>
            </a:r>
            <a:r>
              <a:rPr lang="en-US" alt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takes a set of 2D images as input and progressively enhances them to compute 3D structures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=&gt; Extract </a:t>
            </a:r>
            <a:r>
              <a:rPr lang="zh-TW" sz="20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intermediate feature tokens from each attention layer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of       </a:t>
            </a:r>
            <a:r>
              <a:rPr lang="en-US" alt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to form the  </a:t>
            </a:r>
            <a:b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zh-TW" sz="2000" dirty="0">
                <a:solidFill>
                  <a:srgbClr val="212529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scene representation R</a:t>
            </a:r>
            <a:br>
              <a:rPr lang="zh-TW" sz="2000" dirty="0">
                <a:solidFill>
                  <a:srgbClr val="212529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rgbClr val="212529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rgbClr val="0000FF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(Captures the gradual evolution from 2D appearance features to 3D coordinate descriptors)</a:t>
            </a:r>
            <a:endParaRPr dirty="0">
              <a:solidFill>
                <a:srgbClr val="0000FF"/>
              </a:solidFill>
              <a:highlight>
                <a:schemeClr val="lt1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3" name="Google Shape;253;p31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66573" y="1277549"/>
            <a:ext cx="332925" cy="26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1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2030" y="2041364"/>
            <a:ext cx="332925" cy="26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1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3326" y="3362399"/>
            <a:ext cx="310322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1"/>
          <p:cNvSpPr txBox="1"/>
          <p:nvPr/>
        </p:nvSpPr>
        <p:spPr>
          <a:xfrm>
            <a:off x="4983025" y="3296582"/>
            <a:ext cx="3262800" cy="1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𝚯 : Downsampling operation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: Intermidate feature tokens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2349" y="3694277"/>
            <a:ext cx="253770" cy="2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/>
          <p:nvPr/>
        </p:nvSpPr>
        <p:spPr>
          <a:xfrm>
            <a:off x="966100" y="4059175"/>
            <a:ext cx="7415100" cy="72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Randomly select a ratio r ∈ [0.2, 1.0] </a:t>
            </a:r>
            <a:b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=&gt; Sample a subset of tokens in each anchor frame to control the total size of 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9" name="Google Shape;259;p31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9733" y="4405574"/>
            <a:ext cx="590800" cy="3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1" name="Google Shape;271;p32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836" y="1124538"/>
            <a:ext cx="6926327" cy="22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/>
        </p:nvSpPr>
        <p:spPr>
          <a:xfrm>
            <a:off x="136548" y="1896143"/>
            <a:ext cx="1306800" cy="2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300 per image</a:t>
            </a:r>
            <a:endParaRPr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1355098" y="2026263"/>
            <a:ext cx="253800" cy="147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255;p31">
            <a:extLst>
              <a:ext uri="{FF2B5EF4-FFF2-40B4-BE49-F238E27FC236}">
                <a16:creationId xmlns:a16="http://schemas.microsoft.com/office/drawing/2014/main" id="{03562723-8453-A429-F55B-DA7EB04AA6F3}"/>
              </a:ext>
            </a:extLst>
          </p:cNvPr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3324" y="3599325"/>
            <a:ext cx="310322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56;p31">
            <a:extLst>
              <a:ext uri="{FF2B5EF4-FFF2-40B4-BE49-F238E27FC236}">
                <a16:creationId xmlns:a16="http://schemas.microsoft.com/office/drawing/2014/main" id="{264B9F1D-3260-E856-5A9C-D4363F5ED1A3}"/>
              </a:ext>
            </a:extLst>
          </p:cNvPr>
          <p:cNvSpPr txBox="1"/>
          <p:nvPr/>
        </p:nvSpPr>
        <p:spPr>
          <a:xfrm>
            <a:off x="4983023" y="3533508"/>
            <a:ext cx="3262800" cy="1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𝚯 : Downsampling operation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: Intermidate feature tokens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oogle Shape;257;p31">
            <a:extLst>
              <a:ext uri="{FF2B5EF4-FFF2-40B4-BE49-F238E27FC236}">
                <a16:creationId xmlns:a16="http://schemas.microsoft.com/office/drawing/2014/main" id="{8427B600-2F35-3EAD-3C7B-BF62AA14122C}"/>
              </a:ext>
            </a:extLst>
          </p:cNvPr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2347" y="3931203"/>
            <a:ext cx="253770" cy="2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58;p31">
            <a:extLst>
              <a:ext uri="{FF2B5EF4-FFF2-40B4-BE49-F238E27FC236}">
                <a16:creationId xmlns:a16="http://schemas.microsoft.com/office/drawing/2014/main" id="{5B1B21CB-A834-BAF7-1D19-53E99492ED4E}"/>
              </a:ext>
            </a:extLst>
          </p:cNvPr>
          <p:cNvSpPr txBox="1"/>
          <p:nvPr/>
        </p:nvSpPr>
        <p:spPr>
          <a:xfrm>
            <a:off x="966098" y="4296101"/>
            <a:ext cx="7415100" cy="727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Randomly select a ratio r ∈ [0.2, 1.0] </a:t>
            </a:r>
            <a:b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latin typeface="Calibri" panose="020F0502020204030204" pitchFamily="34" charset="0"/>
                <a:cs typeface="Calibri" panose="020F0502020204030204" pitchFamily="34" charset="0"/>
              </a:rPr>
              <a:t>=&gt; Sample a subset of tokens in each anchor frame to control the total size of </a:t>
            </a: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259;p31">
            <a:extLst>
              <a:ext uri="{FF2B5EF4-FFF2-40B4-BE49-F238E27FC236}">
                <a16:creationId xmlns:a16="http://schemas.microsoft.com/office/drawing/2014/main" id="{10657725-B01D-0B3C-9823-F885CEFB2F8F}"/>
              </a:ext>
            </a:extLst>
          </p:cNvPr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09731" y="4642500"/>
            <a:ext cx="590800" cy="3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/>
        </p:nvSpPr>
        <p:spPr>
          <a:xfrm>
            <a:off x="6160675" y="602950"/>
            <a:ext cx="2671625" cy="1822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Uncertainty Map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</a:t>
            </a:r>
            <a:r>
              <a:rPr lang="en-US" alt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Camera Parameters</a:t>
            </a:r>
            <a:b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zh-TW" sz="18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Camera orientation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zh-TW" sz="18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Translation vector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f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Field of View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4368" y="963676"/>
            <a:ext cx="1725492" cy="34336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1" name="Google Shape;28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Training Objective:</a:t>
            </a: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zh-TW" dirty="0">
                <a:solidFill>
                  <a:srgbClr val="FF0000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lang="zh-TW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VGGT checkpoints)</a:t>
            </a:r>
            <a:endParaRPr dirty="0">
              <a:solidFill>
                <a:schemeClr val="dk1"/>
              </a:solidFill>
              <a:highlight>
                <a:schemeClr val="lt1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40025" y="1258687"/>
            <a:ext cx="2986208" cy="308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3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127" y="1925674"/>
            <a:ext cx="2208665" cy="7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3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619" y="2696168"/>
            <a:ext cx="5716142" cy="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/>
          <p:nvPr/>
        </p:nvSpPr>
        <p:spPr>
          <a:xfrm>
            <a:off x="3579986" y="3230732"/>
            <a:ext cx="2390411" cy="3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Gradient-based smooth</a:t>
            </a:r>
            <a:endParaRPr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6" name="Google Shape;286;p33"/>
          <p:cNvSpPr/>
          <p:nvPr/>
        </p:nvSpPr>
        <p:spPr>
          <a:xfrm>
            <a:off x="4696739" y="3125890"/>
            <a:ext cx="174900" cy="2052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" name="Google Shape;288;p33"/>
          <p:cNvPicPr preferRelativeResize="0"/>
          <p:nvPr/>
        </p:nvPicPr>
        <p:blipFill>
          <a:blip r:embed="rId7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4368" y="674359"/>
            <a:ext cx="347393" cy="3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/>
          <p:cNvPicPr preferRelativeResize="0"/>
          <p:nvPr/>
        </p:nvPicPr>
        <p:blipFill>
          <a:blip r:embed="rId8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622" y="3638175"/>
            <a:ext cx="5258840" cy="65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3"/>
          <p:cNvSpPr txBox="1"/>
          <p:nvPr/>
        </p:nvSpPr>
        <p:spPr>
          <a:xfrm>
            <a:off x="764039" y="4354818"/>
            <a:ext cx="7865400" cy="3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zh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normalization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w.r.t. a randomly selected image in anchor frames</a:t>
            </a:r>
            <a:endParaRPr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702064" y="1181648"/>
            <a:ext cx="4117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Pose Accuracy - Tanks &amp; Temples.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8" name="Google Shape;298;p34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39" y="1688285"/>
            <a:ext cx="5393561" cy="2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600" y="1049761"/>
            <a:ext cx="3692150" cy="21340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/>
          <p:nvPr/>
        </p:nvSpPr>
        <p:spPr>
          <a:xfrm>
            <a:off x="6305384" y="2804425"/>
            <a:ext cx="289291" cy="27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>
          <a:extLst>
            <a:ext uri="{FF2B5EF4-FFF2-40B4-BE49-F238E27FC236}">
              <a16:creationId xmlns:a16="http://schemas.microsoft.com/office/drawing/2014/main" id="{D2C7CD54-198B-80DA-582E-0276A92F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>
            <a:extLst>
              <a:ext uri="{FF2B5EF4-FFF2-40B4-BE49-F238E27FC236}">
                <a16:creationId xmlns:a16="http://schemas.microsoft.com/office/drawing/2014/main" id="{50C784ED-50EA-2C79-758C-877B5BBAC4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7" name="Google Shape;297;p34">
            <a:extLst>
              <a:ext uri="{FF2B5EF4-FFF2-40B4-BE49-F238E27FC236}">
                <a16:creationId xmlns:a16="http://schemas.microsoft.com/office/drawing/2014/main" id="{EBA4960E-C7EC-B3F5-8E01-2B094F32C9D5}"/>
              </a:ext>
            </a:extLst>
          </p:cNvPr>
          <p:cNvSpPr txBox="1"/>
          <p:nvPr/>
        </p:nvSpPr>
        <p:spPr>
          <a:xfrm>
            <a:off x="702064" y="1181648"/>
            <a:ext cx="41175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Pose Accuracy - Tanks &amp; Temples.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98" name="Google Shape;298;p34">
            <a:extLst>
              <a:ext uri="{FF2B5EF4-FFF2-40B4-BE49-F238E27FC236}">
                <a16:creationId xmlns:a16="http://schemas.microsoft.com/office/drawing/2014/main" id="{26792E1C-7E5D-438D-DE26-DD9169DC1CCB}"/>
              </a:ext>
            </a:extLst>
          </p:cNvPr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39" y="1688285"/>
            <a:ext cx="5393561" cy="2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4">
            <a:extLst>
              <a:ext uri="{FF2B5EF4-FFF2-40B4-BE49-F238E27FC236}">
                <a16:creationId xmlns:a16="http://schemas.microsoft.com/office/drawing/2014/main" id="{8E29FCE3-FC81-C7F6-E0D2-B7F7C581C40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7600" y="1049761"/>
            <a:ext cx="3692150" cy="21340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>
            <a:extLst>
              <a:ext uri="{FF2B5EF4-FFF2-40B4-BE49-F238E27FC236}">
                <a16:creationId xmlns:a16="http://schemas.microsoft.com/office/drawing/2014/main" id="{06F46C22-1F8B-8504-CB32-7F5FCD643E33}"/>
              </a:ext>
            </a:extLst>
          </p:cNvPr>
          <p:cNvSpPr/>
          <p:nvPr/>
        </p:nvSpPr>
        <p:spPr>
          <a:xfrm>
            <a:off x="6305384" y="2804425"/>
            <a:ext cx="289291" cy="27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4">
            <a:extLst>
              <a:ext uri="{FF2B5EF4-FFF2-40B4-BE49-F238E27FC236}">
                <a16:creationId xmlns:a16="http://schemas.microsoft.com/office/drawing/2014/main" id="{EC3F413A-81CF-F82D-08D3-C2A3CB4E5606}"/>
              </a:ext>
            </a:extLst>
          </p:cNvPr>
          <p:cNvSpPr txBox="1"/>
          <p:nvPr/>
        </p:nvSpPr>
        <p:spPr>
          <a:xfrm>
            <a:off x="5801472" y="3310862"/>
            <a:ext cx="3004406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evaluation of camera poses is sometimes </a:t>
            </a: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unreliable</a:t>
            </a: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as the </a:t>
            </a: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pseudo ground-truth </a:t>
            </a: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COLMAP is only an estimation!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470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1297050" y="1108675"/>
            <a:ext cx="6549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Pose accuracy via </a:t>
            </a:r>
            <a:r>
              <a:rPr lang="zh-TW" sz="22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view synthesis </a:t>
            </a: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Mip-NeRF 360 </a:t>
            </a:r>
            <a:b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PSNR</a:t>
            </a:r>
            <a:endParaRPr sz="2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9" name="Google Shape;309;p35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638" y="1908700"/>
            <a:ext cx="6832720" cy="268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SAIL-Recon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Ablation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5465100" y="2665613"/>
            <a:ext cx="36789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Ablation on the </a:t>
            </a:r>
            <a:r>
              <a:rPr lang="zh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 of anchor views</a:t>
            </a:r>
            <a: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pose estimation performance on </a:t>
            </a: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alt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3Dv2</a:t>
            </a: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 of input images: 10</a:t>
            </a:r>
            <a:endParaRPr sz="1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7" name="Google Shape;3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073" y="1176751"/>
            <a:ext cx="4900027" cy="372165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6"/>
          <p:cNvSpPr/>
          <p:nvPr/>
        </p:nvSpPr>
        <p:spPr>
          <a:xfrm>
            <a:off x="3603799" y="4067226"/>
            <a:ext cx="235800" cy="785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1FF822C9-D346-A035-B765-200F87016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>
            <a:extLst>
              <a:ext uri="{FF2B5EF4-FFF2-40B4-BE49-F238E27FC236}">
                <a16:creationId xmlns:a16="http://schemas.microsoft.com/office/drawing/2014/main" id="{B33072F2-7ECD-11A5-C7B2-53FF69023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Demo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93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5" name="Google Shape;325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 sz="22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Online </a:t>
            </a:r>
            <a:r>
              <a:rPr lang="zh-TW" sz="2200" dirty="0">
                <a:solidFill>
                  <a:srgbClr val="212529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17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- Cut3R</a:t>
            </a:r>
            <a:endParaRPr sz="17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6" name="Google Shape;326;p37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4299" y="647494"/>
            <a:ext cx="5114051" cy="100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78" name="Picture 2" descr="Literature Review] Continuous 3D Perception Model with Persistent State">
            <a:extLst>
              <a:ext uri="{FF2B5EF4-FFF2-40B4-BE49-F238E27FC236}">
                <a16:creationId xmlns:a16="http://schemas.microsoft.com/office/drawing/2014/main" id="{57035E26-B77D-2525-D7C2-82DE18D94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7901" y="2272970"/>
            <a:ext cx="8408197" cy="262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873C73-0B80-70E5-0D88-969EC2CB842D}"/>
              </a:ext>
            </a:extLst>
          </p:cNvPr>
          <p:cNvSpPr txBox="1"/>
          <p:nvPr/>
        </p:nvSpPr>
        <p:spPr>
          <a:xfrm>
            <a:off x="3574681" y="489727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/pdf/2501.12387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4" name="Google Shape;334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Observation</a:t>
            </a:r>
            <a:br>
              <a:rPr lang="en-US" alt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highlight>
                  <a:schemeClr val="lt1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Many 3D reconstruction pipelines operate as tabula rasa, starting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</a:t>
            </a:r>
            <a:b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scratch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each new scene (e.g. SfM, SLAM, …)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=&gt; </a:t>
            </a:r>
            <a:r>
              <a:rPr lang="en-US" alt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oses challenges in handling scenarios with sparse observations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Current continuous reconstruction methods have limitation such as being</a:t>
            </a:r>
            <a:b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object-centric, or limited to </a:t>
            </a:r>
            <a:r>
              <a:rPr lang="zh-TW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lang="zh-TW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scenes</a:t>
            </a:r>
            <a:b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</a:br>
            <a:endParaRPr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1" name="Google Shape;3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98" y="1535575"/>
            <a:ext cx="8839204" cy="33449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9"/>
          <p:cNvCxnSpPr/>
          <p:nvPr/>
        </p:nvCxnSpPr>
        <p:spPr>
          <a:xfrm flipH="1">
            <a:off x="1275550" y="2209038"/>
            <a:ext cx="5400" cy="596700"/>
          </a:xfrm>
          <a:prstGeom prst="straightConnector1">
            <a:avLst/>
          </a:prstGeom>
          <a:noFill/>
          <a:ln w="19050" cap="flat" cmpd="sng">
            <a:solidFill>
              <a:srgbClr val="395824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9"/>
          <p:cNvCxnSpPr/>
          <p:nvPr/>
        </p:nvCxnSpPr>
        <p:spPr>
          <a:xfrm flipH="1">
            <a:off x="1275550" y="3160663"/>
            <a:ext cx="5400" cy="596700"/>
          </a:xfrm>
          <a:prstGeom prst="straightConnector1">
            <a:avLst/>
          </a:prstGeom>
          <a:noFill/>
          <a:ln w="19050" cap="flat" cmpd="sng">
            <a:solidFill>
              <a:srgbClr val="395824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4" name="Google Shape;344;p39"/>
          <p:cNvSpPr txBox="1"/>
          <p:nvPr/>
        </p:nvSpPr>
        <p:spPr>
          <a:xfrm>
            <a:off x="1231756" y="2359568"/>
            <a:ext cx="569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00" b="1" dirty="0">
                <a:solidFill>
                  <a:srgbClr val="395824"/>
                </a:solidFill>
              </a:rPr>
              <a:t>Share Weights</a:t>
            </a:r>
            <a:endParaRPr sz="700" b="1" dirty="0">
              <a:solidFill>
                <a:srgbClr val="395824"/>
              </a:solidFill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3261397" y="4744585"/>
            <a:ext cx="10596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rgbClr val="14141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Poses</a:t>
            </a:r>
            <a:endParaRPr sz="1100" b="1" dirty="0">
              <a:solidFill>
                <a:srgbClr val="14141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235562" y="1183025"/>
            <a:ext cx="5004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Inputs: Stream of images without any camera information</a:t>
            </a:r>
            <a:endParaRPr sz="16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5831569" y="1567925"/>
            <a:ext cx="1432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050" b="1" dirty="0">
                <a:solidFill>
                  <a:srgbClr val="335D8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Separate transformer Encoder</a:t>
            </a:r>
            <a:endParaRPr sz="1050" b="1" baseline="-25000" dirty="0">
              <a:solidFill>
                <a:srgbClr val="335D8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 b="1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5597175" y="279725"/>
            <a:ext cx="3446700" cy="9845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Ray map </a:t>
            </a:r>
            <a:r>
              <a:rPr lang="zh-TW" sz="1600" b="1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6-channel image encoding the origin and direction of rays at each pixel </a:t>
            </a:r>
            <a:endParaRPr sz="1600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620C8-7CD7-3301-B012-B1BC9DA53C8A}"/>
              </a:ext>
            </a:extLst>
          </p:cNvPr>
          <p:cNvSpPr txBox="1"/>
          <p:nvPr/>
        </p:nvSpPr>
        <p:spPr>
          <a:xfrm>
            <a:off x="6878462" y="4912839"/>
            <a:ext cx="1953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/pdf/2501.12387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5" name="Google Shape;355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bidirectional interaction (update and readout) is implemented using two </a:t>
            </a:r>
            <a:r>
              <a:rPr lang="zh-TW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interconnected 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transformer decoders</a:t>
            </a: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Redundancy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simplifies training 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i.e.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altLang="zh-TW" sz="20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Char char="●"/>
            </a:pP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All pointmaps and poses are in </a:t>
            </a:r>
            <a:r>
              <a:rPr lang="zh-TW" sz="2000" dirty="0">
                <a:solidFill>
                  <a:srgbClr val="FF0000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metric scale</a:t>
            </a: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(i.e. meters)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6" name="Google Shape;356;p40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600" y="1941237"/>
            <a:ext cx="3813986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 txBox="1"/>
          <p:nvPr/>
        </p:nvSpPr>
        <p:spPr>
          <a:xfrm>
            <a:off x="5810074" y="1704000"/>
            <a:ext cx="2840945" cy="194245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zh-TW" sz="2000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Image tokens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  : Learnable pose token</a:t>
            </a: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zh-TW" sz="2000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Pointmap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zh-TW" sz="2000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Confidence map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TW" sz="2000" baseline="-25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(6-DoF) Relative  </a:t>
            </a:r>
            <a:b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zh-TW" sz="20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transformation</a:t>
            </a:r>
            <a:endParaRPr sz="20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58" name="Google Shape;358;p40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600" y="2433700"/>
            <a:ext cx="3514675" cy="1212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0"/>
          <p:cNvSpPr/>
          <p:nvPr/>
        </p:nvSpPr>
        <p:spPr>
          <a:xfrm>
            <a:off x="4378663" y="2474726"/>
            <a:ext cx="169200" cy="774600"/>
          </a:xfrm>
          <a:prstGeom prst="chevron">
            <a:avLst>
              <a:gd name="adj" fmla="val 50000"/>
            </a:avLst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360" name="Google Shape;360;p40"/>
          <p:cNvSpPr txBox="1"/>
          <p:nvPr/>
        </p:nvSpPr>
        <p:spPr>
          <a:xfrm>
            <a:off x="4572000" y="2612591"/>
            <a:ext cx="6588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DPT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4075705" y="3238047"/>
            <a:ext cx="6588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MLP</a:t>
            </a:r>
            <a:endParaRPr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2" name="Google Shape;362;p40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7116" y="3799921"/>
            <a:ext cx="3051478" cy="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Technical Highlights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9" name="Google Shape;369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Training Objective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0" name="Google Shape;370;p41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902" y="1708821"/>
            <a:ext cx="3800173" cy="6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1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902" y="2781044"/>
            <a:ext cx="3764020" cy="6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1"/>
          <p:cNvPicPr preferRelativeResize="0"/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802" y="3938235"/>
            <a:ext cx="1797000" cy="3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1"/>
          <p:cNvSpPr txBox="1"/>
          <p:nvPr/>
        </p:nvSpPr>
        <p:spPr>
          <a:xfrm>
            <a:off x="5141025" y="1526491"/>
            <a:ext cx="35199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Confidence-aware regression loss to the pointmaps.</a:t>
            </a:r>
            <a:r>
              <a:rPr lang="zh-TW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(When GT pointmaps are </a:t>
            </a:r>
            <a:r>
              <a:rPr lang="zh-TW" sz="15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</a:t>
            </a:r>
            <a:r>
              <a:rPr lang="zh-TW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set                )</a:t>
            </a:r>
            <a:endParaRPr sz="15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2245" y="2133195"/>
            <a:ext cx="697850" cy="24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1"/>
          <p:cNvPicPr preferRelativeResize="0"/>
          <p:nvPr/>
        </p:nvPicPr>
        <p:blipFill>
          <a:blip r:embed="rId7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1950" y="2781043"/>
            <a:ext cx="4198062" cy="6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1"/>
          <p:cNvSpPr txBox="1"/>
          <p:nvPr/>
        </p:nvSpPr>
        <p:spPr>
          <a:xfrm>
            <a:off x="4898475" y="3635918"/>
            <a:ext cx="40050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MSE loss.</a:t>
            </a:r>
            <a:r>
              <a:rPr lang="zh-TW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the input is raymap, we also apply MSE loss to enforce the predicted pixel colors       to match the groundtruth</a:t>
            </a: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7" name="Google Shape;377;p41"/>
          <p:cNvPicPr preferRelativeResize="0"/>
          <p:nvPr/>
        </p:nvPicPr>
        <p:blipFill>
          <a:blip r:embed="rId8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8033" y="4261789"/>
            <a:ext cx="222712" cy="2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2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682" y="1621950"/>
            <a:ext cx="3818276" cy="21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2"/>
          <p:cNvSpPr/>
          <p:nvPr/>
        </p:nvSpPr>
        <p:spPr>
          <a:xfrm>
            <a:off x="4547421" y="1621204"/>
            <a:ext cx="4495911" cy="3076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Completion occurs at the </a:t>
            </a:r>
            <a:r>
              <a:rPr lang="zh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patch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level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global context of the entire </a:t>
            </a:r>
            <a:r>
              <a:rPr lang="zh-TW" sz="18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sz="1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4" name="Google Shape;384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Analogy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6" name="Google Shape;386;p42"/>
          <p:cNvSpPr/>
          <p:nvPr/>
        </p:nvSpPr>
        <p:spPr>
          <a:xfrm>
            <a:off x="83890" y="1621975"/>
            <a:ext cx="4420038" cy="3076500"/>
          </a:xfrm>
          <a:prstGeom prst="roundRect">
            <a:avLst>
              <a:gd name="adj" fmla="val 16667"/>
            </a:avLst>
          </a:prstGeom>
          <a:solidFill>
            <a:srgbClr val="073763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US" alt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Completion occurs at the </a:t>
            </a:r>
            <a:r>
              <a:rPr lang="zh-TW" sz="1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level</a:t>
            </a:r>
            <a:br>
              <a:rPr 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8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</a:pPr>
            <a:r>
              <a:rPr lang="en-US" alt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global context of the </a:t>
            </a:r>
            <a:r>
              <a:rPr lang="zh-TW" sz="18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scene</a:t>
            </a:r>
            <a:r>
              <a:rPr lang="zh-TW" sz="180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captured in the state.</a:t>
            </a:r>
            <a:endParaRPr sz="1800" dirty="0">
              <a:solidFill>
                <a:schemeClr val="l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7" name="Google Shape;387;p42"/>
          <p:cNvSpPr txBox="1"/>
          <p:nvPr/>
        </p:nvSpPr>
        <p:spPr>
          <a:xfrm>
            <a:off x="1788268" y="1185900"/>
            <a:ext cx="1000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8" name="Google Shape;388;p42"/>
          <p:cNvSpPr txBox="1"/>
          <p:nvPr/>
        </p:nvSpPr>
        <p:spPr>
          <a:xfrm>
            <a:off x="5285572" y="1185900"/>
            <a:ext cx="3050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Masked Autoencoders</a:t>
            </a:r>
            <a:endParaRPr sz="24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3130257" y="1208938"/>
            <a:ext cx="2883485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Video Depth Estimation</a:t>
            </a:r>
            <a:endParaRPr sz="2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96" name="Google Shape;3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5475"/>
            <a:ext cx="8839204" cy="214506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3"/>
          <p:cNvSpPr txBox="1"/>
          <p:nvPr/>
        </p:nvSpPr>
        <p:spPr>
          <a:xfrm>
            <a:off x="861749" y="3942163"/>
            <a:ext cx="7837633" cy="7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 relative error (Abs Rel)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zh-TW" sz="1800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: Percentage of predicted depths within a 1.25-factor of true depth</a:t>
            </a:r>
            <a:endParaRPr sz="18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98" name="Google Shape;398;p43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3375" y="4412993"/>
            <a:ext cx="941547" cy="22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Cut3R</a:t>
            </a: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dirty="0">
                <a:latin typeface="Calibri" panose="020F0502020204030204" pitchFamily="34" charset="0"/>
                <a:cs typeface="Calibri" panose="020F0502020204030204" pitchFamily="34" charset="0"/>
              </a:rPr>
              <a:t> Experiments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5" name="Google Shape;405;p44"/>
          <p:cNvSpPr txBox="1"/>
          <p:nvPr/>
        </p:nvSpPr>
        <p:spPr>
          <a:xfrm>
            <a:off x="6303063" y="684060"/>
            <a:ext cx="2309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Camera Pose Estimation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06" name="Google Shape;406;p44"/>
          <p:cNvPicPr preferRelativeResize="0"/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700" y="1009336"/>
            <a:ext cx="7702600" cy="22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4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237" y="3533047"/>
            <a:ext cx="8081526" cy="15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4"/>
          <p:cNvSpPr txBox="1"/>
          <p:nvPr/>
        </p:nvSpPr>
        <p:spPr>
          <a:xfrm>
            <a:off x="6972625" y="3174215"/>
            <a:ext cx="1795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3D Reconstruction</a:t>
            </a:r>
            <a:endParaRPr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E4DF793D-3D62-E5BD-904E-9016F8CA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">
            <a:extLst>
              <a:ext uri="{FF2B5EF4-FFF2-40B4-BE49-F238E27FC236}">
                <a16:creationId xmlns:a16="http://schemas.microsoft.com/office/drawing/2014/main" id="{8624D04C-43A1-1DE6-DE95-40492F5E6E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Demo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355;p40">
            <a:extLst>
              <a:ext uri="{FF2B5EF4-FFF2-40B4-BE49-F238E27FC236}">
                <a16:creationId xmlns:a16="http://schemas.microsoft.com/office/drawing/2014/main" id="{87E5F3E8-4CE5-989C-ACA1-28E0A85A29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Dynamic Scene 1</a:t>
            </a:r>
            <a:endParaRPr lang="en-US"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Dynamic Scene 2</a:t>
            </a:r>
            <a:endParaRPr lang="en-US"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Static Scene</a:t>
            </a:r>
            <a:endParaRPr sz="2000" dirty="0">
              <a:solidFill>
                <a:srgbClr val="212529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1753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6DEC7F8-AC86-20C3-C786-944C5400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EC86740-6487-783D-2087-10274D9D7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3D Reconstruction Application: AR/VR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F8C6A028-CCC1-46DA-A4F9-A0316D776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Apple ARKit – </a:t>
            </a:r>
            <a:r>
              <a:rPr lang="en-US" dirty="0" err="1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RoomPlan</a:t>
            </a: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Meta Quest 3 spatial anchoring</a:t>
            </a:r>
            <a:endParaRPr lang="en-US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6626" name="Picture 2" descr=" A visual presentation of grid data from Meta Quest showing a woman standing in the middle of the living room wearing a Quest headset ">
            <a:extLst>
              <a:ext uri="{FF2B5EF4-FFF2-40B4-BE49-F238E27FC236}">
                <a16:creationId xmlns:a16="http://schemas.microsoft.com/office/drawing/2014/main" id="{465CA1EE-AEE0-55E3-1E1F-9C43F6922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12" y="2341037"/>
            <a:ext cx="4572000" cy="235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 descr=" Conceptual illustration of scene data showing a woman standing in the center of a spatial model ">
            <a:extLst>
              <a:ext uri="{FF2B5EF4-FFF2-40B4-BE49-F238E27FC236}">
                <a16:creationId xmlns:a16="http://schemas.microsoft.com/office/drawing/2014/main" id="{98B2C393-F1A6-3979-2C00-99DFF5093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58533" y="2341037"/>
            <a:ext cx="4214414" cy="235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6419CC-2031-3247-9916-1B6615D31A7C}"/>
              </a:ext>
            </a:extLst>
          </p:cNvPr>
          <p:cNvSpPr txBox="1"/>
          <p:nvPr/>
        </p:nvSpPr>
        <p:spPr>
          <a:xfrm>
            <a:off x="2936389" y="4897279"/>
            <a:ext cx="34054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www.meta.com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zhtw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/help/quest/625635239532590/</a:t>
            </a:r>
          </a:p>
        </p:txBody>
      </p:sp>
    </p:spTree>
    <p:extLst>
      <p:ext uri="{BB962C8B-B14F-4D97-AF65-F5344CB8AC3E}">
        <p14:creationId xmlns:p14="http://schemas.microsoft.com/office/powerpoint/2010/main" val="2481309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DE3C846C-7925-44B9-BCB0-9B9462480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023A7CAB-6621-22CA-2978-6C097521F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3D Reconstruction Application: Medical Imaging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FE0DB26-2F1C-7437-87A1-696390CCE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8536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Endoscopy surface reconstruction </a:t>
            </a:r>
          </a:p>
        </p:txBody>
      </p:sp>
      <p:pic>
        <p:nvPicPr>
          <p:cNvPr id="7" name="Picture 6" descr="Close-up of an inside of a person's body&#10;&#10;AI-generated content may be incorrect.">
            <a:extLst>
              <a:ext uri="{FF2B5EF4-FFF2-40B4-BE49-F238E27FC236}">
                <a16:creationId xmlns:a16="http://schemas.microsoft.com/office/drawing/2014/main" id="{CEE2761F-CC92-9D40-A9F8-62F874494F4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5612" y="1496113"/>
            <a:ext cx="8252775" cy="3118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C9E4C7-8FE4-6B0B-7FE6-A3CF065E4C2E}"/>
              </a:ext>
            </a:extLst>
          </p:cNvPr>
          <p:cNvSpPr txBox="1"/>
          <p:nvPr/>
        </p:nvSpPr>
        <p:spPr>
          <a:xfrm>
            <a:off x="3242404" y="4897279"/>
            <a:ext cx="26591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Surface reconstruction results from MPAC 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8C2BD-4920-A1A1-32C3-BF85FA08A1E9}"/>
              </a:ext>
            </a:extLst>
          </p:cNvPr>
          <p:cNvSpPr txBox="1"/>
          <p:nvPr/>
        </p:nvSpPr>
        <p:spPr>
          <a:xfrm>
            <a:off x="4855918" y="4569401"/>
            <a:ext cx="40267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Endoscopy images from VR simulators: 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arxiv.org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/pdf/2008.12949</a:t>
            </a:r>
          </a:p>
        </p:txBody>
      </p:sp>
    </p:spTree>
    <p:extLst>
      <p:ext uri="{BB962C8B-B14F-4D97-AF65-F5344CB8AC3E}">
        <p14:creationId xmlns:p14="http://schemas.microsoft.com/office/powerpoint/2010/main" val="31641110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70A67B4-CBCF-4097-06F6-A3D3EC91E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F79F7BFA-403E-B178-0DEF-6E4FDF80FC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3D Reconstruction Application: Robotics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D883CA4-C139-453D-E0E8-2008FB24B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Autonomous Mapping of the Priscilla Catacombs</a:t>
            </a:r>
            <a:endParaRPr lang="en-US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220422-B884-EC84-30BB-7A5FB5E3D5A0}"/>
              </a:ext>
            </a:extLst>
          </p:cNvPr>
          <p:cNvSpPr txBox="1"/>
          <p:nvPr/>
        </p:nvSpPr>
        <p:spPr>
          <a:xfrm>
            <a:off x="2231592" y="4897279"/>
            <a:ext cx="46808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homes.esat.kuleuven.be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/~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konijn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/publications/2017/978-3-319-49607-8_3.pdf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44BAB4-6AE2-FDEF-B513-3449F17F53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637" y="3259273"/>
            <a:ext cx="1919892" cy="15178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45FCE1-3449-F236-D0BE-190921EA7D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637" y="1597590"/>
            <a:ext cx="4516518" cy="1635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DDE29F-1FE3-8D7A-6C31-594FD7A796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9812" y="3259273"/>
            <a:ext cx="2523343" cy="15178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0C8F43-EEDE-724F-F005-0EBD5B52E48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8092" y="1099738"/>
            <a:ext cx="3243237" cy="367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67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433B53B-BD93-76C1-DA9C-CD4B6CB69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43BE67E-C9E0-160B-4DDB-058E1F566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3D Reconstruction Application: Autonomous Driving 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8E9C398-BBD4-2569-DE02-6D29D4A8B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en-US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SplatAD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Real-Time Lidar and Camera Rendering with 3D Gaussian Splatting for Autonomous Driving</a:t>
            </a:r>
            <a:b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(2025 CVPR)</a:t>
            </a:r>
            <a:endParaRPr lang="en-US" dirty="0">
              <a:solidFill>
                <a:schemeClr val="tx1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BD616-32C5-91B8-C614-57E5DD779A39}"/>
              </a:ext>
            </a:extLst>
          </p:cNvPr>
          <p:cNvSpPr txBox="1"/>
          <p:nvPr/>
        </p:nvSpPr>
        <p:spPr>
          <a:xfrm>
            <a:off x="436881" y="4897279"/>
            <a:ext cx="29589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research.zenseact.com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/publications/</a:t>
            </a:r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splatad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A1459C-955B-6761-5BB1-5EF22BF0A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1036" y="1562729"/>
            <a:ext cx="5522295" cy="354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5BB65D-3F70-E502-5ADB-FDE28FF932A5}"/>
              </a:ext>
            </a:extLst>
          </p:cNvPr>
          <p:cNvSpPr txBox="1"/>
          <p:nvPr/>
        </p:nvSpPr>
        <p:spPr>
          <a:xfrm>
            <a:off x="318951" y="2994591"/>
            <a:ext cx="30965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Rendered images</a:t>
            </a:r>
            <a:endParaRPr lang="en-TW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Bird’s-eye views 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of the rendered point cloud</a:t>
            </a:r>
          </a:p>
          <a:p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- Point clouds overlaid on images, with points colored based on 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range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intensity</a:t>
            </a:r>
            <a:r>
              <a:rPr lang="en-TW" sz="16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58584E59-553F-1B0A-9410-402093755C37}"/>
              </a:ext>
            </a:extLst>
          </p:cNvPr>
          <p:cNvSpPr/>
          <p:nvPr/>
        </p:nvSpPr>
        <p:spPr>
          <a:xfrm>
            <a:off x="3083419" y="4271276"/>
            <a:ext cx="384860" cy="2684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4404662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06F69EAF-842F-1EDD-56D0-D123031A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E74A820-67F4-FEE5-21FB-2F5008BC15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B03437F2-C56D-CFE2-4942-08448426A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Qianqian Wang, Yifei Zhang, Aleksander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Holynski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Alexei A. Efros, and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Angjoo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Kanazawa.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Continuous 3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erception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odel with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ersistent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tate. </a:t>
            </a:r>
            <a:r>
              <a:rPr lang="zh-TW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(CVPR 2025 Oral)</a:t>
            </a:r>
            <a:endParaRPr dirty="0">
              <a:solidFill>
                <a:srgbClr val="0000FF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Jianing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Yang, Alexander Sax, Kevin J. Liang, Mikael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Henaff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Hao Tang, Ang Cao, Joyce Chai, Franziska Meier, and Matt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Feiszli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 Fast3R: Towards 3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econstruction of 1000+ </a:t>
            </a:r>
            <a:r>
              <a:rPr lang="en-US" altLang="zh-TW" dirty="0" err="1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mages in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ne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orward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ass. </a:t>
            </a:r>
            <a:r>
              <a:rPr lang="zh-TW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(CVPR 2025)</a:t>
            </a:r>
            <a:endParaRPr dirty="0">
              <a:solidFill>
                <a:srgbClr val="0000FF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[3]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Junyuan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Deng, Heng Li, Tao Xie, </a:t>
            </a:r>
            <a:r>
              <a:rPr lang="en-US" altLang="zh-TW" dirty="0" err="1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Weiqiang</a:t>
            </a:r>
            <a:r>
              <a:rPr lang="en-US" altLang="zh-TW" dirty="0">
                <a:solidFill>
                  <a:srgbClr val="21252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Ren, Qian Zhang, Ping Tan, and Xiaoyang Guo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. SAIL-Recon: Large SfM by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ugmenting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cene 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egression with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l</a:t>
            </a:r>
            <a:r>
              <a:rPr 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ocalization.</a:t>
            </a:r>
            <a:r>
              <a:rPr lang="en-US" altLang="zh-TW" dirty="0">
                <a:solidFill>
                  <a:srgbClr val="212529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(2025)</a:t>
            </a:r>
            <a:endParaRPr lang="en-US" dirty="0">
              <a:solidFill>
                <a:srgbClr val="0000FF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1857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6378</TotalTime>
  <Words>3137</Words>
  <Application>Microsoft Macintosh PowerPoint</Application>
  <PresentationFormat>On-screen Show (16:9)</PresentationFormat>
  <Paragraphs>463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OpenSymbol</vt:lpstr>
      <vt:lpstr>Arial</vt:lpstr>
      <vt:lpstr>Calibri</vt:lpstr>
      <vt:lpstr>Calibri Light</vt:lpstr>
      <vt:lpstr>Cambria Math</vt:lpstr>
      <vt:lpstr>Times New Roman</vt:lpstr>
      <vt:lpstr>Simple Light</vt:lpstr>
      <vt:lpstr>Towards Feed-forward 3D Reconstruction</vt:lpstr>
      <vt:lpstr>Contents</vt:lpstr>
      <vt:lpstr>What is 3D Reconstruction?</vt:lpstr>
      <vt:lpstr>What is 3D Reconstruction?</vt:lpstr>
      <vt:lpstr>Overview</vt:lpstr>
      <vt:lpstr>3D Reconstruction Methods</vt:lpstr>
      <vt:lpstr>3D Reconstruction Methods</vt:lpstr>
      <vt:lpstr> COLMAP</vt:lpstr>
      <vt:lpstr> COLMAP: Feature Matching</vt:lpstr>
      <vt:lpstr> COLMAP: Incremental Reconstruction</vt:lpstr>
      <vt:lpstr> COLMAP: Bundle Adjustment</vt:lpstr>
      <vt:lpstr> COLMAP: Bundle Adjustment</vt:lpstr>
      <vt:lpstr>3D Reconstruction Methods</vt:lpstr>
      <vt:lpstr>DUSt3R (MASt3R)</vt:lpstr>
      <vt:lpstr>DUSt3R (MASt3R)</vt:lpstr>
      <vt:lpstr>DUSt3R (MASt3R)</vt:lpstr>
      <vt:lpstr>3D Reconstruction Methods</vt:lpstr>
      <vt:lpstr>VGGT</vt:lpstr>
      <vt:lpstr>VGGT</vt:lpstr>
      <vt:lpstr>VGGT: Alternating-Attention</vt:lpstr>
      <vt:lpstr>VGGT</vt:lpstr>
      <vt:lpstr>3D Reconstruction Methods</vt:lpstr>
      <vt:lpstr>Feed-forward 3D Reconstruction</vt:lpstr>
      <vt:lpstr>Current Problems &amp; Perspectives</vt:lpstr>
      <vt:lpstr>Fast3R</vt:lpstr>
      <vt:lpstr>Fast3R</vt:lpstr>
      <vt:lpstr>Fast3R</vt:lpstr>
      <vt:lpstr>Fast3R: Technical Highlights</vt:lpstr>
      <vt:lpstr>Fast3R: Experiments</vt:lpstr>
      <vt:lpstr>Fast3R: Experiments</vt:lpstr>
      <vt:lpstr>SAIL-Recon</vt:lpstr>
      <vt:lpstr>SAIL-Recon</vt:lpstr>
      <vt:lpstr>SAIL-Recon</vt:lpstr>
      <vt:lpstr>SAIL-Recon: Technical Highlights</vt:lpstr>
      <vt:lpstr>SAIL-Recon: Technical Highlights</vt:lpstr>
      <vt:lpstr>SAIL-Recon: Technical Highlights</vt:lpstr>
      <vt:lpstr>SAIL-Recon: Technical Highlights</vt:lpstr>
      <vt:lpstr>SAIL-Recon: Experiments</vt:lpstr>
      <vt:lpstr>SAIL-Recon: Experiments</vt:lpstr>
      <vt:lpstr>SAIL-Recon: Experiments</vt:lpstr>
      <vt:lpstr>SAIL-Recon: Ablation</vt:lpstr>
      <vt:lpstr>Demo</vt:lpstr>
      <vt:lpstr>Cut3R</vt:lpstr>
      <vt:lpstr>Cut3R</vt:lpstr>
      <vt:lpstr>Cut3R</vt:lpstr>
      <vt:lpstr>Cut3R: Technical Highlights</vt:lpstr>
      <vt:lpstr>Cut3R: Technical Highlights</vt:lpstr>
      <vt:lpstr>Cut3R: Analogy</vt:lpstr>
      <vt:lpstr>Cut3R: Experiments</vt:lpstr>
      <vt:lpstr>Cut3R: Experiments</vt:lpstr>
      <vt:lpstr>Demo</vt:lpstr>
      <vt:lpstr>3D Reconstruction Application: AR/VR</vt:lpstr>
      <vt:lpstr>3D Reconstruction Application: Medical Imaging</vt:lpstr>
      <vt:lpstr>3D Reconstruction Application: Robotics</vt:lpstr>
      <vt:lpstr>3D Reconstruction Application: Autonomous Driving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林祐群</cp:lastModifiedBy>
  <cp:revision>209</cp:revision>
  <dcterms:modified xsi:type="dcterms:W3CDTF">2025-12-08T05:47:32Z</dcterms:modified>
</cp:coreProperties>
</file>